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24384000" cy="13716000"/>
  <p:notesSz cx="6858000" cy="9144000"/>
  <p:embeddedFontLst>
    <p:embeddedFont>
      <p:font typeface="Inter Bold" panose="020B0600000101010101" charset="0"/>
      <p:bold r:id="rId17"/>
    </p:embeddedFont>
    <p:embeddedFont>
      <p:font typeface="Inter ExtraLight" panose="020B0600000101010101" charset="0"/>
      <p:regular r:id="rId18"/>
    </p:embeddedFont>
    <p:embeddedFont>
      <p:font typeface="Inter Medium" panose="020B0600000101010101" charset="0"/>
      <p:bold r:id="rId19"/>
    </p:embeddedFont>
    <p:embeddedFont>
      <p:font typeface="Inter Regular" panose="020B0600000101010101" charset="0"/>
      <p:regular r:id="rId20"/>
    </p:embeddedFont>
    <p:embeddedFont>
      <p:font typeface="Inter SemiBold" panose="020B0600000101010101" charset="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312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4960600" y="2692400"/>
            <a:ext cx="8318500" cy="8318500"/>
          </a:xfrm>
          <a:prstGeom prst="rect">
            <a:avLst/>
          </a:prstGeom>
          <a:effectLst>
            <a:outerShdw blurRad="332956" dir="2700000">
              <a:srgbClr val="00C6DB">
                <a:alpha val="33000"/>
              </a:srgbClr>
            </a:outerShdw>
          </a:effectLst>
        </p:spPr>
      </p:pic>
      <p:sp>
        <p:nvSpPr>
          <p:cNvPr id="4" name="TextBox 4"/>
          <p:cNvSpPr txBox="1"/>
          <p:nvPr/>
        </p:nvSpPr>
        <p:spPr>
          <a:xfrm>
            <a:off x="1498600" y="8191500"/>
            <a:ext cx="104902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290" b="0" i="0" u="none" strike="noStrike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</a:rPr>
              <a:t>A practical AI training session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98600" y="3822700"/>
            <a:ext cx="14097000" cy="3987800"/>
          </a:xfrm>
          <a:prstGeom prst="rect">
            <a:avLst/>
          </a:prstGeom>
        </p:spPr>
        <p:txBody>
          <a:bodyPr lIns="0" tIns="73898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11637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Essential AI Skills</a:t>
            </a:r>
          </a:p>
          <a:p>
            <a:pPr lvl="0" algn="l">
              <a:lnSpc>
                <a:spcPct val="107899"/>
              </a:lnSpc>
            </a:pPr>
            <a:r>
              <a:rPr lang="en-US" sz="11637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Training Deck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8600" y="11709400"/>
            <a:ext cx="7721600" cy="520700"/>
          </a:xfrm>
          <a:prstGeom prst="rect">
            <a:avLst/>
          </a:prstGeom>
        </p:spPr>
        <p:txBody>
          <a:bodyPr lIns="0" tIns="3725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933" b="0" i="0" u="none" strike="noStrike">
                <a:solidFill>
                  <a:srgbClr val="00C6DB"/>
                </a:solidFill>
                <a:latin typeface="Inter Medium"/>
                <a:ea typeface="Inter Medium"/>
                <a:cs typeface="Inter Medium"/>
              </a:rPr>
              <a:t>Instructor Name ㅣ Organization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8600" y="1028700"/>
            <a:ext cx="39116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Your Logo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1600" y="1549400"/>
            <a:ext cx="8458200" cy="11087100"/>
          </a:xfrm>
          <a:prstGeom prst="rect">
            <a:avLst/>
          </a:prstGeom>
          <a:effectLst>
            <a:outerShdw blurRad="169099" dir="2700000">
              <a:srgbClr val="00C6DB">
                <a:alpha val="10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76400" y="1828800"/>
            <a:ext cx="7848600" cy="10528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09700" y="1955800"/>
            <a:ext cx="117221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Cameron Blake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8600" y="1155700"/>
            <a:ext cx="39116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Instructor 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09700" y="9728200"/>
            <a:ext cx="6108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Field of Study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09700" y="4660900"/>
            <a:ext cx="10325100" cy="214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This slide introduces the instructor.</a:t>
            </a:r>
          </a:p>
          <a:p>
            <a:pPr lvl="0" algn="l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brief instructor introduction here. </a:t>
            </a:r>
          </a:p>
          <a:p>
            <a:pPr lvl="0" algn="l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Highlight the instructor’s background, </a:t>
            </a:r>
          </a:p>
          <a:p>
            <a:pPr lvl="0" algn="l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expertise, and relevant experience.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9700" y="10363200"/>
            <a:ext cx="87249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Please enter a brief description.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9700" y="11201400"/>
            <a:ext cx="58420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Focus Area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9700" y="11836400"/>
            <a:ext cx="87249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Please enter a brief description.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7945100" y="7645400"/>
            <a:ext cx="5194300" cy="3975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12382500" y="7645400"/>
            <a:ext cx="5194300" cy="397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>
            <a:off x="6807200" y="7645400"/>
            <a:ext cx="5194300" cy="397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15000"/>
          </a:blip>
          <a:stretch>
            <a:fillRect/>
          </a:stretch>
        </p:blipFill>
        <p:spPr>
          <a:xfrm>
            <a:off x="1244600" y="7645400"/>
            <a:ext cx="5194300" cy="3975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8331200"/>
            <a:ext cx="2679700" cy="812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7200" y="7645400"/>
            <a:ext cx="5194300" cy="3975100"/>
          </a:xfrm>
          <a:prstGeom prst="rect">
            <a:avLst/>
          </a:prstGeom>
          <a:effectLst>
            <a:outerShdw blurRad="198616" dist="91669" dir="2700000">
              <a:srgbClr val="00C6DB">
                <a:alpha val="10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82500" y="7645400"/>
            <a:ext cx="5194300" cy="3975100"/>
          </a:xfrm>
          <a:prstGeom prst="rect">
            <a:avLst/>
          </a:prstGeom>
          <a:effectLst>
            <a:outerShdw blurRad="198616" dist="91669" dir="2700000">
              <a:srgbClr val="00C6DB">
                <a:alpha val="100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45100" y="7645400"/>
            <a:ext cx="5194300" cy="3975100"/>
          </a:xfrm>
          <a:prstGeom prst="rect">
            <a:avLst/>
          </a:prstGeom>
          <a:effectLst>
            <a:outerShdw blurRad="198616" dist="91669" dir="2700000">
              <a:srgbClr val="00C6DB">
                <a:alpha val="100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4600" y="7645400"/>
            <a:ext cx="5194300" cy="3975100"/>
          </a:xfrm>
          <a:prstGeom prst="rect">
            <a:avLst/>
          </a:prstGeom>
          <a:effectLst>
            <a:outerShdw blurRad="198616" dist="91669" dir="2700000">
              <a:srgbClr val="00C6DB">
                <a:alpha val="100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7200" y="8331200"/>
            <a:ext cx="2679700" cy="812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39800" y="8331200"/>
            <a:ext cx="2679700" cy="812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202400" y="8331200"/>
            <a:ext cx="2679700" cy="8128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651000" y="9448800"/>
            <a:ext cx="43815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An overview of the key topics covered in this session.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05100" y="8432800"/>
            <a:ext cx="22733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keyword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26300" y="9448800"/>
            <a:ext cx="43815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An overview of the key topics covered in this session.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67700" y="8432800"/>
            <a:ext cx="22733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keyword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88900" y="9448800"/>
            <a:ext cx="43815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An overview of the key topics covered in this session.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43000" y="8432800"/>
            <a:ext cx="22733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keyword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351500" y="9448800"/>
            <a:ext cx="43815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An overview of the key topics covered in this session.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405600" y="8432800"/>
            <a:ext cx="22733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keyword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705100" y="4800600"/>
            <a:ext cx="22733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Session 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09700" y="5588000"/>
            <a:ext cx="4864100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brief description of Session 1 here.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78800" y="4800600"/>
            <a:ext cx="24511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Session 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72300" y="5588000"/>
            <a:ext cx="4864100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brief description of Session 2 here.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766800" y="4800600"/>
            <a:ext cx="24130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Session 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547600" y="5588000"/>
            <a:ext cx="4864100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brief description of Session 3 here.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164300" y="4800600"/>
            <a:ext cx="27559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Session 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110200" y="5588000"/>
            <a:ext cx="4864100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brief description of Session 4 here.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Agenda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09700" y="1828800"/>
            <a:ext cx="129794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Overview of Today’s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900" y="5461000"/>
            <a:ext cx="140589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200" y="7213600"/>
            <a:ext cx="140589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200" y="8978900"/>
            <a:ext cx="140589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200" y="10731500"/>
            <a:ext cx="14058900" cy="25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388100" y="4330700"/>
            <a:ext cx="11722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Understand how Generative AI can reduce work hours.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34000" y="4330700"/>
            <a:ext cx="1181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88100" y="6070600"/>
            <a:ext cx="11887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Identify practical ways to apply AI in your specific role.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34000" y="6070600"/>
            <a:ext cx="1181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88100" y="7797800"/>
            <a:ext cx="113919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Learn the core principles of writing effective prompts.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34000" y="7797800"/>
            <a:ext cx="1181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88100" y="9537700"/>
            <a:ext cx="113919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Please add the course learning objectives here.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34000" y="9537700"/>
            <a:ext cx="1181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88100" y="11264900"/>
            <a:ext cx="128016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Use a short sentence to spark curiosity and engage learners.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34000" y="11264900"/>
            <a:ext cx="1181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Learning Objectives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09700" y="1828800"/>
            <a:ext cx="129794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Expected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600200" y="5994400"/>
            <a:ext cx="21196300" cy="3695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5994400"/>
            <a:ext cx="21196300" cy="3695700"/>
          </a:xfrm>
          <a:prstGeom prst="rect">
            <a:avLst/>
          </a:prstGeom>
          <a:effectLst>
            <a:outerShdw blurRad="184527" dist="85166" dir="2700000">
              <a:srgbClr val="00C6DB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4200" y="5422900"/>
            <a:ext cx="1511300" cy="15113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968500" y="5613400"/>
            <a:ext cx="12700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6400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Q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80300" y="10909300"/>
            <a:ext cx="9436100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Encourage light participation through hand-raising, chat responses, or stickers.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Warm-up Questions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9700" y="1828800"/>
            <a:ext cx="14871700" cy="2463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Opening thoughts based on participants’ prior experiences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38400" y="7086600"/>
            <a:ext cx="19494500" cy="1511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85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"In what situations did you use AI?"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" y="4724400"/>
            <a:ext cx="10744200" cy="6375400"/>
          </a:xfrm>
          <a:prstGeom prst="rect">
            <a:avLst/>
          </a:prstGeom>
          <a:effectLst>
            <a:outerShdw blurRad="127535" dir="2700000">
              <a:srgbClr val="00C6DB">
                <a:alpha val="10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600" y="5041900"/>
            <a:ext cx="10109200" cy="5740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700" y="4724400"/>
            <a:ext cx="10744200" cy="6375400"/>
          </a:xfrm>
          <a:prstGeom prst="rect">
            <a:avLst/>
          </a:prstGeom>
          <a:effectLst>
            <a:outerShdw blurRad="127535" dir="2700000">
              <a:srgbClr val="00C6DB">
                <a:alpha val="10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9200" y="5041900"/>
            <a:ext cx="10109200" cy="5740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What is Generative AI?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09700" y="1828800"/>
            <a:ext cx="14338300" cy="2463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The easiest way to understand the basics of generative AI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11700" y="11366500"/>
            <a:ext cx="70485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short sentence related to the keyword to introduce the main idea.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7200" y="11366500"/>
            <a:ext cx="31115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Efficiency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065500" y="11366500"/>
            <a:ext cx="65405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Use a short sentence to spark curiosity and engage the learner.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28600" y="11366500"/>
            <a:ext cx="30480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Productivity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00" y="10287000"/>
            <a:ext cx="1574800" cy="1574800"/>
          </a:xfrm>
          <a:prstGeom prst="rect">
            <a:avLst/>
          </a:prstGeom>
          <a:effectLst>
            <a:outerShdw blurRad="78624" dist="36288" dir="2700000">
              <a:srgbClr val="00C6DB">
                <a:alpha val="10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00" y="10274300"/>
            <a:ext cx="4711700" cy="1574800"/>
          </a:xfrm>
          <a:prstGeom prst="rect">
            <a:avLst/>
          </a:prstGeom>
          <a:effectLst>
            <a:outerShdw blurRad="78826" dist="36381" dir="2700000">
              <a:srgbClr val="00C6DB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3848100" y="10287000"/>
            <a:ext cx="4711700" cy="157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8547100" y="11049000"/>
            <a:ext cx="26797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8600" y="4546600"/>
            <a:ext cx="1574800" cy="1574800"/>
          </a:xfrm>
          <a:prstGeom prst="rect">
            <a:avLst/>
          </a:prstGeom>
          <a:effectLst>
            <a:outerShdw blurRad="78624" dist="36288" dir="2700000">
              <a:srgbClr val="00C6DB">
                <a:alpha val="10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8100" y="4546600"/>
            <a:ext cx="4711700" cy="1574800"/>
          </a:xfrm>
          <a:prstGeom prst="rect">
            <a:avLst/>
          </a:prstGeom>
          <a:effectLst>
            <a:outerShdw blurRad="78826" dist="36381" dir="2700000">
              <a:srgbClr val="00C6DB">
                <a:alpha val="10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>
            <a:off x="3848100" y="4546600"/>
            <a:ext cx="4711700" cy="1574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8547100" y="5245100"/>
            <a:ext cx="26797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98600" y="7416800"/>
            <a:ext cx="1574800" cy="1574800"/>
          </a:xfrm>
          <a:prstGeom prst="rect">
            <a:avLst/>
          </a:prstGeom>
          <a:effectLst>
            <a:outerShdw blurRad="78624" dist="36288" dir="2700000">
              <a:srgbClr val="00C6DB">
                <a:alpha val="100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8100" y="7416800"/>
            <a:ext cx="4711700" cy="1574800"/>
          </a:xfrm>
          <a:prstGeom prst="rect">
            <a:avLst/>
          </a:prstGeom>
          <a:effectLst>
            <a:outerShdw blurRad="78826" dist="36381" dir="2700000">
              <a:srgbClr val="00C6DB">
                <a:alpha val="100000"/>
              </a:srgbClr>
            </a:outerShdw>
          </a:effectLst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>
            <a:off x="3848100" y="7416800"/>
            <a:ext cx="4711700" cy="1574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8547100" y="8191500"/>
            <a:ext cx="26797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671300" y="10210800"/>
            <a:ext cx="112014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description of the keyword here. Use a short sentence to engage the audience. Clearly present keywords and descriptions to sustain audience interest.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71300" y="4483100"/>
            <a:ext cx="112014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description of the keyword here. Use a short sentence to engage the audience. Clearly present keywords and descriptions to sustain audience interest.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71300" y="7353300"/>
            <a:ext cx="112014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description of the keyword here. Use a short sentence to engage the audience. Clearly present keywords and descriptions to sustain audience interest.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45000" y="10782300"/>
            <a:ext cx="3517900" cy="5715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Output types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45000" y="5054600"/>
            <a:ext cx="3517900" cy="5715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Core definition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45000" y="7670800"/>
            <a:ext cx="3517900" cy="10541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Difference from traditional AI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39900" y="107569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39900" y="50292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39900" y="78994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Key Output Types of Generative AI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09700" y="1828800"/>
            <a:ext cx="160528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Key Output Types of Generative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700" y="6464300"/>
            <a:ext cx="10744200" cy="6223000"/>
          </a:xfrm>
          <a:prstGeom prst="rect">
            <a:avLst/>
          </a:prstGeom>
          <a:effectLst>
            <a:outerShdw blurRad="124375" dir="2700000">
              <a:srgbClr val="00C6DB">
                <a:alpha val="10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9200" y="6756400"/>
            <a:ext cx="10109200" cy="567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700" y="6464300"/>
            <a:ext cx="10744200" cy="6223000"/>
          </a:xfrm>
          <a:prstGeom prst="rect">
            <a:avLst/>
          </a:prstGeom>
          <a:effectLst>
            <a:outerShdw blurRad="124375" dir="2700000">
              <a:srgbClr val="00C6DB">
                <a:alpha val="10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200" y="6756400"/>
            <a:ext cx="10109200" cy="56769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498600" y="1028700"/>
            <a:ext cx="9893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Real examples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09700" y="1828800"/>
            <a:ext cx="148717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Visual Use Cases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5600" y="3708400"/>
            <a:ext cx="2578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Before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25600" y="4546600"/>
            <a:ext cx="10058400" cy="109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Please add an image related to the topic in the image frame. Use a short sentence to engage the audience.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25400" y="3708400"/>
            <a:ext cx="2578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After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25400" y="4546600"/>
            <a:ext cx="10083800" cy="109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Please add an image related to the topic in the image frame. Use a short sentence to engage the audience.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435100" y="4152900"/>
            <a:ext cx="7010400" cy="8089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100" y="4152900"/>
            <a:ext cx="7010400" cy="8089900"/>
          </a:xfrm>
          <a:prstGeom prst="rect">
            <a:avLst/>
          </a:prstGeom>
          <a:effectLst>
            <a:outerShdw blurRad="350581" dist="161807" dir="2700000">
              <a:srgbClr val="00C6DB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3300" y="10477500"/>
            <a:ext cx="2679700" cy="812800"/>
          </a:xfrm>
          <a:prstGeom prst="rect">
            <a:avLst/>
          </a:prstGeom>
          <a:effectLst>
            <a:outerShdw blurRad="121270" dist="74628" dir="2700000">
              <a:srgbClr val="000000">
                <a:alpha val="4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15000"/>
          </a:blip>
          <a:stretch>
            <a:fillRect/>
          </a:stretch>
        </p:blipFill>
        <p:spPr>
          <a:xfrm>
            <a:off x="8686800" y="4114800"/>
            <a:ext cx="7010400" cy="808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4114800"/>
            <a:ext cx="7010400" cy="8089900"/>
          </a:xfrm>
          <a:prstGeom prst="rect">
            <a:avLst/>
          </a:prstGeom>
          <a:effectLst>
            <a:outerShdw blurRad="350581" dist="161807" dir="2700000">
              <a:srgbClr val="00C6DB">
                <a:alpha val="10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10439400"/>
            <a:ext cx="2679700" cy="812800"/>
          </a:xfrm>
          <a:prstGeom prst="rect">
            <a:avLst/>
          </a:prstGeom>
          <a:effectLst>
            <a:outerShdw blurRad="121270" dist="74628" dir="2700000">
              <a:srgbClr val="000000">
                <a:alpha val="4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15000"/>
          </a:blip>
          <a:stretch>
            <a:fillRect/>
          </a:stretch>
        </p:blipFill>
        <p:spPr>
          <a:xfrm>
            <a:off x="15938500" y="4114800"/>
            <a:ext cx="7010400" cy="8089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8500" y="4114800"/>
            <a:ext cx="7010400" cy="8089900"/>
          </a:xfrm>
          <a:prstGeom prst="rect">
            <a:avLst/>
          </a:prstGeom>
          <a:effectLst>
            <a:outerShdw blurRad="350581" dist="161807" dir="2700000">
              <a:srgbClr val="00C6DB">
                <a:alpha val="100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89400" y="10439400"/>
            <a:ext cx="2679700" cy="812800"/>
          </a:xfrm>
          <a:prstGeom prst="rect">
            <a:avLst/>
          </a:prstGeom>
          <a:effectLst>
            <a:outerShdw blurRad="121270" dist="74628" dir="2700000">
              <a:srgbClr val="000000">
                <a:alpha val="40000"/>
              </a:srgbClr>
            </a:outerShdw>
          </a:effectLst>
        </p:spPr>
      </p:pic>
      <p:sp>
        <p:nvSpPr>
          <p:cNvPr id="12" name="TextBox 12"/>
          <p:cNvSpPr txBox="1"/>
          <p:nvPr/>
        </p:nvSpPr>
        <p:spPr>
          <a:xfrm>
            <a:off x="2273300" y="5892800"/>
            <a:ext cx="48895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Drafting documents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73300" y="6832600"/>
            <a:ext cx="54483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Quickly generating structured first drafts.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73300" y="50927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41600" y="10642600"/>
            <a:ext cx="1930400" cy="4699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Go here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25000" y="5854700"/>
            <a:ext cx="48895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Summaries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25000" y="6794500"/>
            <a:ext cx="54483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Condensing long documents or meetings into clear summaries.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25000" y="5054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06000" y="10604500"/>
            <a:ext cx="1930400" cy="4699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Go here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789400" y="5854700"/>
            <a:ext cx="54610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Idea development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789400" y="6794500"/>
            <a:ext cx="54483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Expanding thinking during planning or strategy phases.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789400" y="5054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157700" y="10604500"/>
            <a:ext cx="1930400" cy="4699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Go here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Core application areas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09700" y="1828800"/>
            <a:ext cx="148717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Text-based AI Applications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00" y="4914900"/>
            <a:ext cx="8699500" cy="7962900"/>
          </a:xfrm>
          <a:prstGeom prst="rect">
            <a:avLst/>
          </a:prstGeom>
          <a:effectLst>
            <a:outerShdw blurRad="159165" dir="2700000">
              <a:srgbClr val="00C6DB">
                <a:alpha val="10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00" y="5207000"/>
            <a:ext cx="8102600" cy="7391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>
            <a:off x="10655300" y="10807700"/>
            <a:ext cx="12598400" cy="2082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9600" y="10807700"/>
            <a:ext cx="12369800" cy="2082800"/>
          </a:xfrm>
          <a:prstGeom prst="rect">
            <a:avLst/>
          </a:prstGeom>
          <a:effectLst>
            <a:outerShdw blurRad="103839" dist="47926" dir="2700000">
              <a:srgbClr val="00C6DB">
                <a:alpha val="100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1498600" y="1028700"/>
            <a:ext cx="92202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Visual work that even non-designers can easily utilize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09700" y="1828800"/>
            <a:ext cx="14871700" cy="2463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Image-based and Design-based AI Applications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17300" y="11226800"/>
            <a:ext cx="2095500" cy="11430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Example prompt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62100" y="11264900"/>
            <a:ext cx="883920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"Add [details] about your design project. [details] about your design project. --here"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0" y="5435600"/>
            <a:ext cx="88519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Generating thumbnails or posters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0000" y="6223000"/>
            <a:ext cx="102616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Please add a description of the keyword here. Feel free to add a brief description of the keyword.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0" y="8064500"/>
            <a:ext cx="88519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Creating design drafts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0000" y="8839200"/>
            <a:ext cx="102616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Please add a description of the keyword here. Feel free to add a brief description of the keyword.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5600" y="8801100"/>
            <a:ext cx="8128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0500" y="5448300"/>
            <a:ext cx="10121900" cy="6921500"/>
          </a:xfrm>
          <a:prstGeom prst="rect">
            <a:avLst/>
          </a:prstGeom>
          <a:effectLst>
            <a:outerShdw blurRad="345975" dist="159681" dir="2700000">
              <a:srgbClr val="00C6DB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24100" y="5029200"/>
            <a:ext cx="5829300" cy="812800"/>
          </a:xfrm>
          <a:prstGeom prst="rect">
            <a:avLst/>
          </a:prstGeom>
          <a:effectLst>
            <a:outerShdw blurRad="121270" dist="74628" dir="2700000">
              <a:srgbClr val="000000">
                <a:alpha val="4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12890500" y="5448300"/>
            <a:ext cx="10121900" cy="6908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4300" y="5448300"/>
            <a:ext cx="10121900" cy="6921500"/>
          </a:xfrm>
          <a:prstGeom prst="rect">
            <a:avLst/>
          </a:prstGeom>
          <a:effectLst>
            <a:outerShdw blurRad="345975" dist="159681" dir="2700000">
              <a:srgbClr val="00C6DB">
                <a:alpha val="10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0600" y="5029200"/>
            <a:ext cx="5829300" cy="812800"/>
          </a:xfrm>
          <a:prstGeom prst="rect">
            <a:avLst/>
          </a:prstGeom>
          <a:effectLst>
            <a:outerShdw blurRad="121270" dist="74628" dir="2700000">
              <a:srgbClr val="000000">
                <a:alpha val="40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3898900" y="5118100"/>
            <a:ext cx="50800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Before using AI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54200" y="6718300"/>
            <a:ext cx="9182100" cy="444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Use this page to add befor/after comparisons.</a:t>
            </a:r>
          </a:p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Feel free to add a description of the keyword.</a:t>
            </a:r>
          </a:p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Please add a description of the keyword here.</a:t>
            </a:r>
          </a:p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Use a short sentence to engage the audience.</a:t>
            </a:r>
          </a:p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Please add a description of the keyword here.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405100" y="5118100"/>
            <a:ext cx="50800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After using AI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47700" y="6718300"/>
            <a:ext cx="9182100" cy="444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Use this page to add befor/after comparisons.</a:t>
            </a:r>
          </a:p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Feel free to add a description of the keyword.</a:t>
            </a:r>
          </a:p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Please add a description of the keyword here.</a:t>
            </a:r>
          </a:p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Use a short sentence to engage the audience.</a:t>
            </a:r>
          </a:p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Please add a description of the keyword here.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8600" y="1028700"/>
            <a:ext cx="92202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Comparing outcomes with and without AI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09700" y="1828800"/>
            <a:ext cx="18465800" cy="2463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Before &amp; After</a:t>
            </a:r>
          </a:p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: How Work Changes with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4330700"/>
            <a:ext cx="3009900" cy="1574800"/>
          </a:xfrm>
          <a:prstGeom prst="rect">
            <a:avLst/>
          </a:prstGeom>
          <a:effectLst>
            <a:outerShdw blurRad="78826" dist="36381" dir="2700000">
              <a:srgbClr val="00C6DB">
                <a:alpha val="10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965200" y="4343400"/>
            <a:ext cx="3009900" cy="1574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" y="10185400"/>
            <a:ext cx="3009900" cy="1574800"/>
          </a:xfrm>
          <a:prstGeom prst="rect">
            <a:avLst/>
          </a:prstGeom>
          <a:effectLst>
            <a:outerShdw blurRad="78826" dist="36381" dir="2700000">
              <a:srgbClr val="00C6DB">
                <a:alpha val="10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965200" y="10198100"/>
            <a:ext cx="3009900" cy="157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200" y="7264400"/>
            <a:ext cx="3009900" cy="1574800"/>
          </a:xfrm>
          <a:prstGeom prst="rect">
            <a:avLst/>
          </a:prstGeom>
          <a:effectLst>
            <a:outerShdw blurRad="78826" dist="36381" dir="2700000">
              <a:srgbClr val="00C6DB">
                <a:alpha val="10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965200" y="7264400"/>
            <a:ext cx="3009900" cy="157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22400" y="4368800"/>
            <a:ext cx="9017000" cy="8178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498600" y="1028700"/>
            <a:ext cx="92202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Advantages experienced in the workplace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9700" y="1828800"/>
            <a:ext cx="166116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Major Benefits of Using Generative AI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4900" y="4483100"/>
            <a:ext cx="2717800" cy="1282700"/>
          </a:xfrm>
          <a:prstGeom prst="rect">
            <a:avLst/>
          </a:prstGeom>
        </p:spPr>
        <p:txBody>
          <a:bodyPr lIns="0" tIns="9601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7200" b="0" i="0" u="none" strike="noStrike">
                <a:solidFill>
                  <a:srgbClr val="CBFAFF"/>
                </a:solidFill>
                <a:latin typeface="Inter SemiBold"/>
                <a:ea typeface="Inter SemiBold"/>
                <a:cs typeface="Inter SemiBold"/>
              </a:rPr>
              <a:t>25%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89500" y="5143500"/>
            <a:ext cx="86233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Use this page to present numerical data through graphs.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89500" y="4330700"/>
            <a:ext cx="71374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CBFAFF"/>
                </a:solidFill>
                <a:latin typeface="Inter Bold"/>
                <a:ea typeface="Inter Bold"/>
                <a:cs typeface="Inter Bold"/>
              </a:rPr>
              <a:t>Automation of repetitive tasks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89500" y="8077200"/>
            <a:ext cx="85598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Edit the chart to highlight key metrics and provide clarity.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89500" y="7264400"/>
            <a:ext cx="71374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8EF3FF"/>
                </a:solidFill>
                <a:latin typeface="Inter Bold"/>
                <a:ea typeface="Inter Bold"/>
                <a:cs typeface="Inter Bold"/>
              </a:rPr>
              <a:t>Expanded ideation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4900" y="7404100"/>
            <a:ext cx="2717800" cy="1282700"/>
          </a:xfrm>
          <a:prstGeom prst="rect">
            <a:avLst/>
          </a:prstGeom>
        </p:spPr>
        <p:txBody>
          <a:bodyPr lIns="0" tIns="9601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7200" b="0" i="0" u="none" strike="noStrike">
                <a:solidFill>
                  <a:srgbClr val="8EF3FF"/>
                </a:solidFill>
                <a:latin typeface="Inter SemiBold"/>
                <a:ea typeface="Inter SemiBold"/>
                <a:cs typeface="Inter SemiBold"/>
              </a:rPr>
              <a:t>30%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89500" y="10998200"/>
            <a:ext cx="85598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Use this page to present numerical data through graphs.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89500" y="10185400"/>
            <a:ext cx="71374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Consistency in documents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4900" y="10337800"/>
            <a:ext cx="2717800" cy="1282700"/>
          </a:xfrm>
          <a:prstGeom prst="rect">
            <a:avLst/>
          </a:prstGeom>
        </p:spPr>
        <p:txBody>
          <a:bodyPr lIns="0" tIns="9601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7200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45%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5207000"/>
            <a:ext cx="33020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900" y="5207000"/>
            <a:ext cx="33020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1200" y="5207000"/>
            <a:ext cx="3302000" cy="6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45400" y="5207000"/>
            <a:ext cx="4356100" cy="63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38400" y="5207000"/>
            <a:ext cx="3302000" cy="63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579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921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51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>
            <a:off x="1473200" y="6642100"/>
            <a:ext cx="990600" cy="990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>
            <a:off x="7277100" y="6642100"/>
            <a:ext cx="990600" cy="990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>
            <a:off x="13030200" y="6642100"/>
            <a:ext cx="990600" cy="990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80000"/>
          </a:blip>
          <a:stretch>
            <a:fillRect/>
          </a:stretch>
        </p:blipFill>
        <p:spPr>
          <a:xfrm>
            <a:off x="18783300" y="6642100"/>
            <a:ext cx="990600" cy="9906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498600" y="1028700"/>
            <a:ext cx="92202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Steps for integrating AI into real work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09700" y="1828800"/>
            <a:ext cx="166116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Role-based AI Workflow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89100" y="7772400"/>
            <a:ext cx="28194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Input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891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89100" y="8686800"/>
            <a:ext cx="4267200" cy="227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This page organizes topic-related items into a process or timeline.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54900" y="7772400"/>
            <a:ext cx="28194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Generate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549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54900" y="8686800"/>
            <a:ext cx="41910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Place each step in sequence to explain the process flow.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20700" y="7772400"/>
            <a:ext cx="28194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Edit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207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169900" y="8686800"/>
            <a:ext cx="4178300" cy="227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This page organizes topic-related items into a process or timeline.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973800" y="7772400"/>
            <a:ext cx="28194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Apply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9738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961100" y="8686800"/>
            <a:ext cx="41148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Place each step in sequence to explain the process flow.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8470900"/>
            <a:ext cx="8890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0" y="4584700"/>
            <a:ext cx="6273800" cy="8229600"/>
          </a:xfrm>
          <a:prstGeom prst="rect">
            <a:avLst/>
          </a:prstGeom>
          <a:effectLst>
            <a:outerShdw blurRad="125511" dir="2700000">
              <a:srgbClr val="00C6DB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4787900"/>
            <a:ext cx="5829300" cy="7810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5700" y="4584700"/>
            <a:ext cx="6273800" cy="8229600"/>
          </a:xfrm>
          <a:prstGeom prst="rect">
            <a:avLst/>
          </a:prstGeom>
          <a:effectLst>
            <a:outerShdw blurRad="125511" dir="2700000">
              <a:srgbClr val="00C6DB">
                <a:alpha val="10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4300" y="4787900"/>
            <a:ext cx="5829300" cy="7810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4800" y="4584700"/>
            <a:ext cx="6273800" cy="8229600"/>
          </a:xfrm>
          <a:prstGeom prst="rect">
            <a:avLst/>
          </a:prstGeom>
          <a:effectLst>
            <a:outerShdw blurRad="125511" dir="2700000">
              <a:srgbClr val="00C6DB">
                <a:alpha val="10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43400" y="4787900"/>
            <a:ext cx="5829300" cy="7810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298700" y="3683000"/>
            <a:ext cx="42418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Style 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66500" y="3683000"/>
            <a:ext cx="36576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Style A'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135600" y="3683000"/>
            <a:ext cx="36576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Style 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8600" y="1028700"/>
            <a:ext cx="92202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Viewing visual outputs generated by AI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09700" y="1828800"/>
            <a:ext cx="166116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Image Examples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4876800"/>
            <a:ext cx="2171700" cy="812800"/>
          </a:xfrm>
          <a:prstGeom prst="rect">
            <a:avLst/>
          </a:prstGeom>
          <a:effectLst>
            <a:outerShdw blurRad="121270" dist="74628" dir="2700000">
              <a:srgbClr val="000000">
                <a:alpha val="4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7061200"/>
            <a:ext cx="2171700" cy="812800"/>
          </a:xfrm>
          <a:prstGeom prst="rect">
            <a:avLst/>
          </a:prstGeom>
          <a:effectLst>
            <a:outerShdw blurRad="121270" dist="74628" dir="2700000">
              <a:srgbClr val="000000">
                <a:alpha val="4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700" y="9334500"/>
            <a:ext cx="6540500" cy="812800"/>
          </a:xfrm>
          <a:prstGeom prst="rect">
            <a:avLst/>
          </a:prstGeom>
          <a:effectLst>
            <a:outerShdw blurRad="121270" dist="74628" dir="2700000">
              <a:srgbClr val="000000">
                <a:alpha val="4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20500" y="1422400"/>
            <a:ext cx="11417300" cy="11087100"/>
          </a:xfrm>
          <a:prstGeom prst="rect">
            <a:avLst/>
          </a:prstGeom>
          <a:effectLst>
            <a:outerShdw blurRad="221623" dir="2700000">
              <a:srgbClr val="00C6DB">
                <a:alpha val="10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50700" y="1701800"/>
            <a:ext cx="10744200" cy="10528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409700" y="1828800"/>
            <a:ext cx="94107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Contact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8600" y="1028700"/>
            <a:ext cx="92202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How to ask questions or reach out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1300" y="4978400"/>
            <a:ext cx="19812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Phone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54200" y="5867400"/>
            <a:ext cx="4432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611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(123) 456-7890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4500" y="7150100"/>
            <a:ext cx="15748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E-mail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54200" y="8039100"/>
            <a:ext cx="4127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611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visit@here.com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38300" y="9436100"/>
            <a:ext cx="60960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Notices/Additional updates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14600" y="10477500"/>
            <a:ext cx="9080500" cy="205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5189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learning announcements here.</a:t>
            </a:r>
          </a:p>
          <a:p>
            <a:pPr lvl="0" algn="l">
              <a:lnSpc>
                <a:spcPct val="15189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description of the keyword here.</a:t>
            </a:r>
          </a:p>
          <a:p>
            <a:pPr lvl="0" algn="l">
              <a:lnSpc>
                <a:spcPct val="15189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learning announcements here.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55800" y="10477500"/>
            <a:ext cx="723900" cy="205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51890"/>
              </a:lnSpc>
            </a:pPr>
            <a:r>
              <a:rPr lang="en-US" sz="3200" b="0" i="0" u="none" strike="noStrike">
                <a:solidFill>
                  <a:srgbClr val="00C6DB"/>
                </a:solidFill>
                <a:latin typeface="Inter Regular"/>
                <a:ea typeface="Inter Regular"/>
                <a:cs typeface="Inter Regular"/>
              </a:rPr>
              <a:t>-</a:t>
            </a:r>
          </a:p>
          <a:p>
            <a:pPr lvl="0" algn="l">
              <a:lnSpc>
                <a:spcPct val="151890"/>
              </a:lnSpc>
            </a:pPr>
            <a:r>
              <a:rPr lang="en-US" sz="3200" b="0" i="0" u="none" strike="noStrike">
                <a:solidFill>
                  <a:srgbClr val="00C6DB"/>
                </a:solidFill>
                <a:latin typeface="Inter Regular"/>
                <a:ea typeface="Inter Regular"/>
                <a:cs typeface="Inter Regular"/>
              </a:rPr>
              <a:t>-</a:t>
            </a:r>
          </a:p>
          <a:p>
            <a:pPr lvl="0" algn="l">
              <a:lnSpc>
                <a:spcPct val="151890"/>
              </a:lnSpc>
            </a:pPr>
            <a:r>
              <a:rPr lang="en-US" sz="3200" b="0" i="0" u="none" strike="noStrike">
                <a:solidFill>
                  <a:srgbClr val="00C6DB"/>
                </a:solidFill>
                <a:latin typeface="Inter Regular"/>
                <a:ea typeface="Inter Regular"/>
                <a:cs typeface="Inter Regular"/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865</Words>
  <Application>Microsoft Office PowerPoint</Application>
  <PresentationFormat>사용자 지정</PresentationFormat>
  <Paragraphs>153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Inter Medium</vt:lpstr>
      <vt:lpstr>Inter Regular</vt:lpstr>
      <vt:lpstr>Inter SemiBold</vt:lpstr>
      <vt:lpstr>Inter ExtraLight</vt:lpstr>
      <vt:lpstr>Calibri</vt:lpstr>
      <vt:lpstr>Arial</vt:lpstr>
      <vt:lpstr>Inter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김민영</cp:lastModifiedBy>
  <cp:revision>2</cp:revision>
  <dcterms:created xsi:type="dcterms:W3CDTF">2006-08-16T00:00:00Z</dcterms:created>
  <dcterms:modified xsi:type="dcterms:W3CDTF">2026-03-26T00:56:50Z</dcterms:modified>
</cp:coreProperties>
</file>