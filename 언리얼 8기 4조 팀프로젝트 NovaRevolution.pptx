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8" r:id="rId3"/>
    <p:sldId id="289" r:id="rId4"/>
    <p:sldId id="271" r:id="rId5"/>
    <p:sldId id="274" r:id="rId6"/>
    <p:sldId id="272" r:id="rId7"/>
    <p:sldId id="273" r:id="rId8"/>
    <p:sldId id="275" r:id="rId9"/>
    <p:sldId id="276" r:id="rId10"/>
    <p:sldId id="279" r:id="rId11"/>
    <p:sldId id="280" r:id="rId12"/>
    <p:sldId id="284" r:id="rId13"/>
    <p:sldId id="282" r:id="rId14"/>
    <p:sldId id="283" r:id="rId15"/>
    <p:sldId id="285" r:id="rId16"/>
    <p:sldId id="286" r:id="rId17"/>
    <p:sldId id="287" r:id="rId18"/>
    <p:sldId id="288" r:id="rId19"/>
    <p:sldId id="290" r:id="rId20"/>
    <p:sldId id="257" r:id="rId21"/>
    <p:sldId id="278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</p:sldIdLst>
  <p:sldSz cx="24384000" cy="13716000"/>
  <p:notesSz cx="6858000" cy="9144000"/>
  <p:embeddedFontLst>
    <p:embeddedFont>
      <p:font typeface="Pretendard" panose="02000503000000020004" pitchFamily="50" charset="-127"/>
      <p:regular r:id="rId34"/>
      <p:bold r:id="rId35"/>
    </p:embeddedFont>
    <p:embeddedFont>
      <p:font typeface="Inter Bold" panose="020B0600000101010101" charset="0"/>
      <p:bold r:id="rId36"/>
    </p:embeddedFont>
    <p:embeddedFont>
      <p:font typeface="Inter Medium" panose="020B0600000101010101" charset="0"/>
      <p:bold r:id="rId37"/>
    </p:embeddedFont>
    <p:embeddedFont>
      <p:font typeface="Inter Regular" panose="020B0600000101010101" charset="0"/>
      <p:regular r:id="rId38"/>
    </p:embeddedFont>
    <p:embeddedFont>
      <p:font typeface="Inter SemiBold" panose="020B0600000101010101" charset="0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420" y="1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4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2.png"/><Relationship Id="rId5" Type="http://schemas.openxmlformats.org/officeDocument/2006/relationships/image" Target="../media/image46.png"/><Relationship Id="rId10" Type="http://schemas.openxmlformats.org/officeDocument/2006/relationships/image" Target="../media/image21.png"/><Relationship Id="rId4" Type="http://schemas.openxmlformats.org/officeDocument/2006/relationships/image" Target="../media/image45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4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2.png"/><Relationship Id="rId5" Type="http://schemas.openxmlformats.org/officeDocument/2006/relationships/image" Target="../media/image46.png"/><Relationship Id="rId10" Type="http://schemas.openxmlformats.org/officeDocument/2006/relationships/image" Target="../media/image21.png"/><Relationship Id="rId4" Type="http://schemas.openxmlformats.org/officeDocument/2006/relationships/image" Target="../media/image45.png"/><Relationship Id="rId9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6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0.png"/><Relationship Id="rId4" Type="http://schemas.openxmlformats.org/officeDocument/2006/relationships/image" Target="../media/image26.png"/><Relationship Id="rId9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8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82.png"/><Relationship Id="rId5" Type="http://schemas.openxmlformats.org/officeDocument/2006/relationships/image" Target="../media/image31.png"/><Relationship Id="rId10" Type="http://schemas.openxmlformats.org/officeDocument/2006/relationships/image" Target="../media/image8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98600" y="7391400"/>
            <a:ext cx="104902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29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노바 </a:t>
            </a:r>
            <a:r>
              <a:rPr lang="en-US" altLang="ko-KR" sz="529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1492 </a:t>
            </a:r>
            <a:r>
              <a:rPr lang="ko-KR" altLang="en-US" sz="529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모작 프로젝트</a:t>
            </a:r>
            <a:endParaRPr lang="en-US" sz="529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98600" y="5029200"/>
            <a:ext cx="14097000" cy="2781300"/>
          </a:xfrm>
          <a:prstGeom prst="rect">
            <a:avLst/>
          </a:prstGeom>
        </p:spPr>
        <p:txBody>
          <a:bodyPr lIns="0" tIns="7389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1637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Nova</a:t>
            </a:r>
            <a:r>
              <a:rPr lang="ko-KR" altLang="en-US" sz="11637" dirty="0">
                <a:solidFill>
                  <a:srgbClr val="FFFFFF"/>
                </a:solidFill>
                <a:latin typeface="Inter SemiBold"/>
                <a:ea typeface="Pretendard" panose="02000503000000020004" pitchFamily="50" charset="-127"/>
                <a:cs typeface="Inter SemiBold"/>
              </a:rPr>
              <a:t> </a:t>
            </a:r>
            <a:r>
              <a:rPr lang="en-US" altLang="ko-KR" sz="11637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Revolution</a:t>
            </a:r>
            <a:endParaRPr lang="en-US" sz="11637" i="0" u="none" strike="noStrike" dirty="0">
              <a:solidFill>
                <a:srgbClr val="FFFFFF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8600" y="11709400"/>
            <a:ext cx="7721600" cy="5207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933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팀장 김민영 </a:t>
            </a:r>
            <a:r>
              <a:rPr lang="en-US" altLang="ko-KR" sz="2933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933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팀원 </a:t>
            </a:r>
            <a:r>
              <a:rPr lang="ko-KR" altLang="en-US" sz="2933" b="1" i="0" u="none" strike="noStrike" dirty="0" err="1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백원석</a:t>
            </a:r>
            <a:r>
              <a:rPr lang="ko-KR" altLang="en-US" sz="2933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933" b="1" i="0" u="none" strike="noStrike" dirty="0" err="1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박성아</a:t>
            </a:r>
            <a:endParaRPr lang="en-US" sz="2933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98600" y="1028700"/>
            <a:ext cx="39116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b="1" i="0" u="none" strike="noStrike" spc="-100" dirty="0" err="1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언리얼</a:t>
            </a:r>
            <a:r>
              <a:rPr lang="ko-KR" altLang="en-US" sz="2666" b="1" i="0" u="none" strike="noStrike" spc="-100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666" b="1" i="0" u="none" strike="noStrike" spc="-100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</a:t>
            </a:r>
            <a:r>
              <a:rPr lang="ko-KR" altLang="en-US" sz="2666" b="1" spc="-100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</a:t>
            </a:r>
            <a:r>
              <a:rPr lang="ko-KR" altLang="en-US" sz="2666" b="1" i="0" u="none" strike="noStrike" spc="-100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666" b="1" i="0" u="none" strike="noStrike" spc="-100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2666" b="1" i="0" u="none" strike="noStrike" spc="-100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</a:t>
            </a:r>
            <a:endParaRPr lang="en-US" sz="2666" b="1" i="0" u="none" strike="noStrike" spc="-100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E20BA8-E1D1-E612-95A5-9550F8ED9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8400" y="4084452"/>
            <a:ext cx="9331563" cy="554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7945100" y="7645400"/>
            <a:ext cx="5194300" cy="3975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12382500" y="7645400"/>
            <a:ext cx="5194300" cy="397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6807200" y="7645400"/>
            <a:ext cx="5194300" cy="397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1244600" y="7645400"/>
            <a:ext cx="5194300" cy="3975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8331200"/>
            <a:ext cx="2679700" cy="812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2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451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" y="7645400"/>
            <a:ext cx="5194300" cy="3975100"/>
          </a:xfrm>
          <a:prstGeom prst="rect">
            <a:avLst/>
          </a:prstGeom>
          <a:effectLst>
            <a:outerShdw blurRad="198616" dist="91669" dir="2700000">
              <a:srgbClr val="00C6DB">
                <a:alpha val="10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0" y="8331200"/>
            <a:ext cx="2679700" cy="812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39800" y="8331200"/>
            <a:ext cx="26797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02400" y="8331200"/>
            <a:ext cx="2679700" cy="812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6510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051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263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677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889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430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351500" y="9448800"/>
            <a:ext cx="43815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An overview of the key topics covered in this session.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405600" y="84328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keyword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05100" y="4800600"/>
            <a:ext cx="2273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097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1 here.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78800" y="4800600"/>
            <a:ext cx="2451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723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2 here.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66800" y="4800600"/>
            <a:ext cx="2413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476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3 here.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164300" y="4800600"/>
            <a:ext cx="2755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Session 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110200" y="5588000"/>
            <a:ext cx="48641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description of Session 4 here.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Index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목차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16DB8-BA33-A5F4-E47B-2F2163D6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3B1E88B-599F-90BC-D170-ACE9A37C8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52C0309-DB83-4AC0-B912-C696A07015FB}"/>
              </a:ext>
            </a:extLst>
          </p:cNvPr>
          <p:cNvSpPr txBox="1"/>
          <p:nvPr/>
        </p:nvSpPr>
        <p:spPr>
          <a:xfrm>
            <a:off x="1409700" y="2781300"/>
            <a:ext cx="1172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 1492</a:t>
            </a:r>
            <a:r>
              <a:rPr lang="en-US" altLang="ko-KR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FA18A-1ECD-EA66-9DF0-1B2342908DB1}"/>
              </a:ext>
            </a:extLst>
          </p:cNvPr>
          <p:cNvSpPr txBox="1"/>
          <p:nvPr/>
        </p:nvSpPr>
        <p:spPr>
          <a:xfrm>
            <a:off x="1498600" y="1981200"/>
            <a:ext cx="39116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Project Introduction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63637E6-47D7-3D50-36DA-44162641EB4E}"/>
              </a:ext>
            </a:extLst>
          </p:cNvPr>
          <p:cNvSpPr txBox="1"/>
          <p:nvPr/>
        </p:nvSpPr>
        <p:spPr>
          <a:xfrm>
            <a:off x="1409700" y="4660900"/>
            <a:ext cx="10325100" cy="654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노바 </a:t>
            </a:r>
            <a:r>
              <a:rPr lang="en-US" altLang="ko-KR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1492</a:t>
            </a: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부품 조합을 통해 자신만의 유닛을 설계하고</a:t>
            </a: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전장에서 운용하는 독특한 시스템을 가진 </a:t>
            </a:r>
            <a:r>
              <a:rPr lang="en-US" altLang="ko-KR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RTS </a:t>
            </a: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게임으로</a:t>
            </a:r>
            <a:r>
              <a:rPr lang="en-US" altLang="ko-KR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lvl="0" algn="l">
              <a:lnSpc>
                <a:spcPct val="120350"/>
              </a:lnSpc>
            </a:pP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</a:t>
            </a:r>
            <a:r>
              <a:rPr lang="en-US" altLang="ko-KR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RTS </a:t>
            </a: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장르의 복잡한 문법을 과감하게 쳐내고</a:t>
            </a: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수많은 부품의 조합을 통해 전략적 다양성을 창출하는</a:t>
            </a: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시대를 크게 앞서간 게임</a:t>
            </a:r>
            <a:r>
              <a:rPr lang="en-US" altLang="ko-KR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lvl="0" algn="l">
              <a:lnSpc>
                <a:spcPct val="120350"/>
              </a:lnSpc>
            </a:pP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노바 </a:t>
            </a:r>
            <a:r>
              <a:rPr lang="en-US" altLang="ko-KR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1492</a:t>
            </a: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현대적으로 재해석해 </a:t>
            </a:r>
            <a:r>
              <a:rPr lang="ko-KR" altLang="en-US" sz="2933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언리얼</a:t>
            </a: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엔진 </a:t>
            </a:r>
            <a:r>
              <a:rPr lang="en-US" altLang="ko-KR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 </a:t>
            </a: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개발자로서</a:t>
            </a: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 역량을 증명하고 클래식 게임의 재미를</a:t>
            </a: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현대 프로그래밍 기술로 부활시킬 수 있음을 증명하기 위해</a:t>
            </a: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20350"/>
              </a:lnSpc>
            </a:pPr>
            <a:r>
              <a:rPr lang="ko-KR" altLang="en-US" sz="2933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주제로 선정</a:t>
            </a:r>
            <a:endParaRPr lang="en-US" altLang="ko-KR" sz="2933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DE6ED9E-D373-5C72-D612-FDC0D2A89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2" r="12502"/>
          <a:stretch>
            <a:fillRect/>
          </a:stretch>
        </p:blipFill>
        <p:spPr>
          <a:xfrm>
            <a:off x="10972800" y="2357207"/>
            <a:ext cx="12001500" cy="900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9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FE2E9-D4C3-1815-D74A-90201ED1A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30C2381-BC50-5456-3D4D-B5071B9D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F322E8E-CD6F-951D-6A26-051C13776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49403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5AAFEA5-EEB5-9EA2-7241-91BD3BCD3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49403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0BD1390D-5B06-39A2-663A-35E0D14ED61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3848100" y="4940300"/>
            <a:ext cx="4711700" cy="15748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75C93A9B-350D-06D1-1661-B81A0FD8C1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5638800"/>
            <a:ext cx="2679700" cy="25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8A9E4D5-6A51-CA74-E25B-6C49DD616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8105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A76813D-7676-39B3-5529-18A1141108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00" y="78105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B7FDCEEF-4A1D-5D14-370C-FE08EB7F5618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3848100" y="7874000"/>
            <a:ext cx="4711700" cy="15748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195B54B1-84AA-3EB9-FD18-88D583334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8585200"/>
            <a:ext cx="2679700" cy="25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CA9111A4-B106-4D25-EF3B-C2638D2B9BFE}"/>
              </a:ext>
            </a:extLst>
          </p:cNvPr>
          <p:cNvSpPr txBox="1"/>
          <p:nvPr/>
        </p:nvSpPr>
        <p:spPr>
          <a:xfrm>
            <a:off x="11671300" y="4876800"/>
            <a:ext cx="112014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부품 조합에 따라 체력</a:t>
            </a:r>
            <a:r>
              <a:rPr lang="en-US" altLang="ko-KR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공격력</a:t>
            </a:r>
            <a:r>
              <a:rPr lang="en-US" altLang="ko-KR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방어력 등의 속성과 공격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어빌리티가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동적으로 초기화되는 데이터 주도형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GAS</a:t>
            </a:r>
            <a:endParaRPr lang="en-US" sz="320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800F342-89BF-84EB-7A94-E9FB37DC1687}"/>
              </a:ext>
            </a:extLst>
          </p:cNvPr>
          <p:cNvSpPr txBox="1"/>
          <p:nvPr/>
        </p:nvSpPr>
        <p:spPr>
          <a:xfrm>
            <a:off x="11671300" y="7747000"/>
            <a:ext cx="112014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와트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SP,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인구 제한 등의 속성을 갖고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자원 생산 및 소모 로직을 </a:t>
            </a:r>
            <a:r>
              <a:rPr lang="en-US" altLang="ko-KR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GameplayEffect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규격화한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BFAE883-7D75-2223-08FD-71910D740D5E}"/>
              </a:ext>
            </a:extLst>
          </p:cNvPr>
          <p:cNvSpPr txBox="1"/>
          <p:nvPr/>
        </p:nvSpPr>
        <p:spPr>
          <a:xfrm>
            <a:off x="4445000" y="54483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ko-KR" altLang="en-US" sz="3200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</a:t>
            </a:r>
            <a:r>
              <a:rPr lang="en-US" altLang="ko-KR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GAS</a:t>
            </a:r>
            <a:endParaRPr lang="en-US" sz="3200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D733589-93C4-E753-C40D-016915C6755A}"/>
              </a:ext>
            </a:extLst>
          </p:cNvPr>
          <p:cNvSpPr txBox="1"/>
          <p:nvPr/>
        </p:nvSpPr>
        <p:spPr>
          <a:xfrm>
            <a:off x="4445000" y="8331200"/>
            <a:ext cx="3517900" cy="5461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ko-KR" altLang="en-US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</a:t>
            </a:r>
            <a:r>
              <a:rPr lang="en-US" altLang="ko-KR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GAS</a:t>
            </a:r>
            <a:endParaRPr lang="en-US" sz="3200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F70D878-92AE-6DEA-2E3B-5319EFCC8899}"/>
              </a:ext>
            </a:extLst>
          </p:cNvPr>
          <p:cNvSpPr txBox="1"/>
          <p:nvPr/>
        </p:nvSpPr>
        <p:spPr>
          <a:xfrm>
            <a:off x="1739900" y="54229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225700A-1E2C-84C3-831C-2C86A63759C5}"/>
              </a:ext>
            </a:extLst>
          </p:cNvPr>
          <p:cNvSpPr txBox="1"/>
          <p:nvPr/>
        </p:nvSpPr>
        <p:spPr>
          <a:xfrm>
            <a:off x="1739900" y="82931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6394501-E53F-749F-BE65-6AB19D7FAD13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Game Ability System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DD93C12-1D72-0A66-2B90-65B0068C524B}"/>
              </a:ext>
            </a:extLst>
          </p:cNvPr>
          <p:cNvSpPr txBox="1"/>
          <p:nvPr/>
        </p:nvSpPr>
        <p:spPr>
          <a:xfrm>
            <a:off x="1409700" y="1828800"/>
            <a:ext cx="160528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GAS </a:t>
            </a:r>
            <a:r>
              <a:rPr lang="ko-KR" alt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728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D9E2-0DE2-E66F-3CD5-C4A96719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D3DB23A-C017-49B7-FF85-7F87AB36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5032C20-1678-0845-87C2-2949509047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036BA74-B146-7576-C6B9-8802AB6A2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65210E4-229D-AF19-1C2D-66ACBA64125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5101DD5-2C6E-146B-6DF2-1EF642933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7C89AC2-D8B1-659A-2F8E-B0E25161072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15938500" y="4114800"/>
            <a:ext cx="7010400" cy="80899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9F1E78F-A983-260D-DD78-345E173E9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8500" y="41148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6F0D6C98-F3B5-EF28-31AD-DE4301B9AA54}"/>
              </a:ext>
            </a:extLst>
          </p:cNvPr>
          <p:cNvSpPr txBox="1"/>
          <p:nvPr/>
        </p:nvSpPr>
        <p:spPr>
          <a:xfrm>
            <a:off x="2273300" y="58928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1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NovaAttributeSet</a:t>
            </a:r>
            <a:endParaRPr lang="en-US" sz="3466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331211E-73DB-E87D-5E1C-806AD31479E3}"/>
              </a:ext>
            </a:extLst>
          </p:cNvPr>
          <p:cNvSpPr txBox="1"/>
          <p:nvPr/>
        </p:nvSpPr>
        <p:spPr>
          <a:xfrm>
            <a:off x="2273300" y="6832600"/>
            <a:ext cx="54483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유닛의 모든 수치적 속성을 관리하는 클래스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체력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공격력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방어력 등의 속성 관리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Damage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속성으로 데미지 이벤트 수신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속성의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Clamping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처리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4AF18DE-D615-25E0-690A-01044CE9F792}"/>
              </a:ext>
            </a:extLst>
          </p:cNvPr>
          <p:cNvSpPr txBox="1"/>
          <p:nvPr/>
        </p:nvSpPr>
        <p:spPr>
          <a:xfrm>
            <a:off x="2273300" y="50927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2E3D07D-C46E-0A21-6214-1AEBD1E69F3D}"/>
              </a:ext>
            </a:extLst>
          </p:cNvPr>
          <p:cNvSpPr txBox="1"/>
          <p:nvPr/>
        </p:nvSpPr>
        <p:spPr>
          <a:xfrm>
            <a:off x="9525000" y="58547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1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NovaPart</a:t>
            </a:r>
            <a:endParaRPr lang="en-US" sz="3466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8C3B65A-A824-2471-81AD-B9CB3D611DE1}"/>
              </a:ext>
            </a:extLst>
          </p:cNvPr>
          <p:cNvSpPr txBox="1"/>
          <p:nvPr/>
        </p:nvSpPr>
        <p:spPr>
          <a:xfrm>
            <a:off x="9525000" y="6794500"/>
            <a:ext cx="5448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유닛을 구성하는 개별 부품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다리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몸통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무기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클래스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부품은 고유한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ID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값을 가짐</a:t>
            </a:r>
            <a:endParaRPr lang="en-US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ID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값을 이용해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DT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부품의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스탯을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불러옴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AFC2BCD-74F9-D28A-6CB4-0798A3CCBECC}"/>
              </a:ext>
            </a:extLst>
          </p:cNvPr>
          <p:cNvSpPr txBox="1"/>
          <p:nvPr/>
        </p:nvSpPr>
        <p:spPr>
          <a:xfrm>
            <a:off x="9525000" y="5054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 dirty="0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6DD7247-7580-88D2-6B57-B0B6127E8E08}"/>
              </a:ext>
            </a:extLst>
          </p:cNvPr>
          <p:cNvSpPr txBox="1"/>
          <p:nvPr/>
        </p:nvSpPr>
        <p:spPr>
          <a:xfrm>
            <a:off x="16789400" y="5854700"/>
            <a:ext cx="5461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1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FNovaPartSpecRow</a:t>
            </a:r>
            <a:endParaRPr lang="en-US" sz="3466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455A0CC-AB21-7174-B2DF-3560C4DA5AB3}"/>
              </a:ext>
            </a:extLst>
          </p:cNvPr>
          <p:cNvSpPr txBox="1"/>
          <p:nvPr/>
        </p:nvSpPr>
        <p:spPr>
          <a:xfrm>
            <a:off x="16789400" y="6794500"/>
            <a:ext cx="5448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부품의 성능 데이터를 담는 데이터 구조체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부품의 고유한 속성 값을 정의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부품의 고유한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어빌리티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정의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75D9575-5939-A1F5-2C70-A2249D598C93}"/>
              </a:ext>
            </a:extLst>
          </p:cNvPr>
          <p:cNvSpPr txBox="1"/>
          <p:nvPr/>
        </p:nvSpPr>
        <p:spPr>
          <a:xfrm>
            <a:off x="16789400" y="5054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A9149B4-469E-74E9-EEE9-FAC1316479B8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Unit GAS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F8558F5-6A1F-E42B-9D04-7044805D6B88}"/>
              </a:ext>
            </a:extLst>
          </p:cNvPr>
          <p:cNvSpPr txBox="1"/>
          <p:nvPr/>
        </p:nvSpPr>
        <p:spPr>
          <a:xfrm>
            <a:off x="1409700" y="1828800"/>
            <a:ext cx="14871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 </a:t>
            </a:r>
            <a:r>
              <a:rPr lang="en-US" altLang="ko-KR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GAS</a:t>
            </a:r>
          </a:p>
        </p:txBody>
      </p:sp>
    </p:spTree>
    <p:extLst>
      <p:ext uri="{BB962C8B-B14F-4D97-AF65-F5344CB8AC3E}">
        <p14:creationId xmlns:p14="http://schemas.microsoft.com/office/powerpoint/2010/main" val="350055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4A9E8-F061-22D2-7AA9-21B537CC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A34710B-13E9-88E9-66BB-68F6EF307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6252108-A19E-8DE4-B7CA-D5D345AE4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5207000"/>
            <a:ext cx="33020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FDF75D1-286E-7F6B-A2BC-9F7C6D6F1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5207000"/>
            <a:ext cx="3302000" cy="63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1D844A8-6FB3-D87C-E6A6-5E1198CC9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5207000"/>
            <a:ext cx="3302000" cy="63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A6979BD-842F-8711-0C90-41A6D6E39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0" y="5207000"/>
            <a:ext cx="4356100" cy="63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A4328EE-B788-0B4D-160F-1BD2A7EEA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400" y="5207000"/>
            <a:ext cx="3302000" cy="63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C6B51AB-46EE-9DC8-7409-C9DD6DAAB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79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0D26A70E-F3F1-6675-3882-9EE61E5692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247E612-5F36-B6DF-BAA5-90C9FA155A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B771CD2-E53E-0847-EB56-7667D4ADF6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4E99B56F-0465-871F-EC1A-88C9ADAE9EF5}"/>
              </a:ext>
            </a:extLst>
          </p:cNvPr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GAS Initialization Process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772B6A0-2CA0-DCE6-0336-5910598D735F}"/>
              </a:ext>
            </a:extLst>
          </p:cNvPr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 </a:t>
            </a:r>
            <a:r>
              <a:rPr lang="en-US" altLang="ko-KR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GAS </a:t>
            </a: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초기화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6F27859-8E0E-D9AE-94E0-9638A46504F5}"/>
              </a:ext>
            </a:extLst>
          </p:cNvPr>
          <p:cNvSpPr txBox="1"/>
          <p:nvPr/>
        </p:nvSpPr>
        <p:spPr>
          <a:xfrm>
            <a:off x="1689100" y="61722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부품 조립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101C19A-B0E9-70BE-8168-55A627B31D37}"/>
              </a:ext>
            </a:extLst>
          </p:cNvPr>
          <p:cNvSpPr txBox="1"/>
          <p:nvPr/>
        </p:nvSpPr>
        <p:spPr>
          <a:xfrm>
            <a:off x="16891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46CCC73-ACE6-57CA-A1E3-766933224BC7}"/>
              </a:ext>
            </a:extLst>
          </p:cNvPr>
          <p:cNvSpPr txBox="1"/>
          <p:nvPr/>
        </p:nvSpPr>
        <p:spPr>
          <a:xfrm>
            <a:off x="1689100" y="7086600"/>
            <a:ext cx="42672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플레이어가 설정한 설계도를 따라 실제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부품를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생성하고 유닛 본체에 부착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0D8DF8A-ACB2-AC86-7189-C15AA451DDA4}"/>
              </a:ext>
            </a:extLst>
          </p:cNvPr>
          <p:cNvSpPr txBox="1"/>
          <p:nvPr/>
        </p:nvSpPr>
        <p:spPr>
          <a:xfrm>
            <a:off x="7454899" y="6172200"/>
            <a:ext cx="4190999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 합산 및 초기화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F836578-0374-34BA-ADAA-D308C3104205}"/>
              </a:ext>
            </a:extLst>
          </p:cNvPr>
          <p:cNvSpPr txBox="1"/>
          <p:nvPr/>
        </p:nvSpPr>
        <p:spPr>
          <a:xfrm>
            <a:off x="74549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85A389E-35C5-4624-2B78-2B049D111139}"/>
              </a:ext>
            </a:extLst>
          </p:cNvPr>
          <p:cNvSpPr txBox="1"/>
          <p:nvPr/>
        </p:nvSpPr>
        <p:spPr>
          <a:xfrm>
            <a:off x="7454900" y="7086600"/>
            <a:ext cx="41910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부착된 부품을 순회하며 부품의 수치를 합산해 </a:t>
            </a:r>
            <a:r>
              <a:rPr lang="en-US" altLang="ko-KR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AttributeSet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초기화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7CDA746-9A4C-DDC9-61D4-15427DF91833}"/>
              </a:ext>
            </a:extLst>
          </p:cNvPr>
          <p:cNvSpPr txBox="1"/>
          <p:nvPr/>
        </p:nvSpPr>
        <p:spPr>
          <a:xfrm>
            <a:off x="13220700" y="61722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altLang="ko-KR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Ability</a:t>
            </a: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부여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3C8E8EE-BDCD-2D93-9F57-CF294A104E27}"/>
              </a:ext>
            </a:extLst>
          </p:cNvPr>
          <p:cNvSpPr txBox="1"/>
          <p:nvPr/>
        </p:nvSpPr>
        <p:spPr>
          <a:xfrm>
            <a:off x="132207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A36145F-C612-427D-C041-99B0B2CD62D6}"/>
              </a:ext>
            </a:extLst>
          </p:cNvPr>
          <p:cNvSpPr txBox="1"/>
          <p:nvPr/>
        </p:nvSpPr>
        <p:spPr>
          <a:xfrm>
            <a:off x="13169900" y="7086600"/>
            <a:ext cx="41783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부품에 설정된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Ability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클래스를 수집해 유닛에게 부여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DB35C6F-38CE-FA84-B149-2542618F4581}"/>
              </a:ext>
            </a:extLst>
          </p:cNvPr>
          <p:cNvSpPr txBox="1"/>
          <p:nvPr/>
        </p:nvSpPr>
        <p:spPr>
          <a:xfrm>
            <a:off x="18973800" y="61722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 생성</a:t>
            </a:r>
            <a:r>
              <a:rPr lang="en-US" altLang="ko-KR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5254FA7-B6F7-AFC5-2422-9BAE1154B059}"/>
              </a:ext>
            </a:extLst>
          </p:cNvPr>
          <p:cNvSpPr txBox="1"/>
          <p:nvPr/>
        </p:nvSpPr>
        <p:spPr>
          <a:xfrm>
            <a:off x="189738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F5B679C-6C6F-7B00-B5C4-5347946D43F4}"/>
              </a:ext>
            </a:extLst>
          </p:cNvPr>
          <p:cNvSpPr txBox="1"/>
          <p:nvPr/>
        </p:nvSpPr>
        <p:spPr>
          <a:xfrm>
            <a:off x="18961100" y="7086600"/>
            <a:ext cx="41148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최종적으로 유저가 조립한 유닛이 생성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097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354BD-615F-16CA-0747-D07E0721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276F8C3-EFBE-DA29-C1D9-61B11AFBB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7D2822B-D1C0-7F9C-DEE7-99E4BD207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7175500"/>
            <a:ext cx="14058900" cy="25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0B88350-3871-B382-3377-4F0BF1BB5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8928100"/>
            <a:ext cx="140589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77CDD9D7-BB47-427E-5CD8-DE2BE37336DB}"/>
              </a:ext>
            </a:extLst>
          </p:cNvPr>
          <p:cNvSpPr txBox="1"/>
          <p:nvPr/>
        </p:nvSpPr>
        <p:spPr>
          <a:xfrm>
            <a:off x="2654300" y="6045200"/>
            <a:ext cx="11722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히트스캔 및 투사체 지원</a:t>
            </a:r>
            <a:endParaRPr lang="en-US" sz="3466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720CA58-58B2-F0DE-60B0-48A436964D8C}"/>
              </a:ext>
            </a:extLst>
          </p:cNvPr>
          <p:cNvSpPr txBox="1"/>
          <p:nvPr/>
        </p:nvSpPr>
        <p:spPr>
          <a:xfrm>
            <a:off x="1600200" y="60452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9CB4053-BC31-8298-BC5F-50F12834D6D7}"/>
              </a:ext>
            </a:extLst>
          </p:cNvPr>
          <p:cNvSpPr txBox="1"/>
          <p:nvPr/>
        </p:nvSpPr>
        <p:spPr>
          <a:xfrm>
            <a:off x="2654300" y="7785100"/>
            <a:ext cx="11887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오브젝트 </a:t>
            </a:r>
            <a:r>
              <a:rPr lang="ko-KR" altLang="en-US" sz="3466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풀링</a:t>
            </a:r>
            <a:r>
              <a:rPr lang="ko-KR" altLang="en-US" sz="3466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지원</a:t>
            </a:r>
            <a:endParaRPr lang="en-US" sz="3466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748A421-0E05-AA3D-2D24-026F65CBE971}"/>
              </a:ext>
            </a:extLst>
          </p:cNvPr>
          <p:cNvSpPr txBox="1"/>
          <p:nvPr/>
        </p:nvSpPr>
        <p:spPr>
          <a:xfrm>
            <a:off x="1600200" y="77851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2425E97-5DE7-AD94-9C4C-8CB4F95D4619}"/>
              </a:ext>
            </a:extLst>
          </p:cNvPr>
          <p:cNvSpPr txBox="1"/>
          <p:nvPr/>
        </p:nvSpPr>
        <p:spPr>
          <a:xfrm>
            <a:off x="2654300" y="9512300"/>
            <a:ext cx="1139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범위 피해 지원</a:t>
            </a:r>
            <a:endParaRPr lang="en-US" sz="3466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9F9389E-BF91-C146-D28F-6B4FED508F36}"/>
              </a:ext>
            </a:extLst>
          </p:cNvPr>
          <p:cNvSpPr txBox="1"/>
          <p:nvPr/>
        </p:nvSpPr>
        <p:spPr>
          <a:xfrm>
            <a:off x="1600200" y="95123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9897CD0-6AC7-7CB8-F31D-E5211E852D84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 err="1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NovaGA_Attack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D6E2408-0D36-07C9-138C-A7544C5EDFE8}"/>
              </a:ext>
            </a:extLst>
          </p:cNvPr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 공격 </a:t>
            </a:r>
            <a:r>
              <a:rPr lang="ko-KR" altLang="en-US" sz="6933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어빌리티</a:t>
            </a:r>
            <a:endParaRPr lang="en-US" altLang="ko-KR" sz="6933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A6C047C5-AFA7-EDC9-2977-413CBB0C1CF9}"/>
              </a:ext>
            </a:extLst>
          </p:cNvPr>
          <p:cNvSpPr txBox="1"/>
          <p:nvPr/>
        </p:nvSpPr>
        <p:spPr>
          <a:xfrm>
            <a:off x="1409700" y="3594100"/>
            <a:ext cx="10325100" cy="789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1">
              <a:lnSpc>
                <a:spcPct val="120350"/>
              </a:lnSpc>
            </a:pPr>
            <a:endParaRPr lang="en-US" altLang="ko-KR" sz="36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E3CA3736-A796-FF03-8482-FF8F428E680E}"/>
              </a:ext>
            </a:extLst>
          </p:cNvPr>
          <p:cNvSpPr txBox="1"/>
          <p:nvPr/>
        </p:nvSpPr>
        <p:spPr>
          <a:xfrm>
            <a:off x="1498600" y="3581400"/>
            <a:ext cx="11722100" cy="181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유닛의 기본 공격을 수행하는 핵심 클래스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2035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다양한 공격 방식을 갖는 부품들에 모두 대응하는 범용적인 구조</a:t>
            </a: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AB836DE-BD5F-63F9-468F-0E779D9C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7992" y="2311801"/>
            <a:ext cx="6928438" cy="304175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C1E2ED9-3208-1000-092C-B68AABF06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4170" y="5638800"/>
            <a:ext cx="6922260" cy="569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02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38389-9303-8341-1926-64C97E7D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DA4C966-353A-4D46-A08C-FC5DA0BD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-25400"/>
            <a:ext cx="24384000" cy="13716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3422680E-8B2F-F67D-386D-39D1107EF2FD}"/>
              </a:ext>
            </a:extLst>
          </p:cNvPr>
          <p:cNvSpPr txBox="1"/>
          <p:nvPr/>
        </p:nvSpPr>
        <p:spPr>
          <a:xfrm>
            <a:off x="1409700" y="1955800"/>
            <a:ext cx="1172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데미지 계산 클래스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4C8701-940B-2CF7-A411-F7CCE213579B}"/>
              </a:ext>
            </a:extLst>
          </p:cNvPr>
          <p:cNvSpPr txBox="1"/>
          <p:nvPr/>
        </p:nvSpPr>
        <p:spPr>
          <a:xfrm>
            <a:off x="1498600" y="1155700"/>
            <a:ext cx="65024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 err="1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U</a:t>
            </a:r>
            <a:r>
              <a:rPr lang="en-US" sz="2666" spc="-100" dirty="0" err="1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NovaDamageCalculation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1EFBD2-EC2C-B9EC-C1F5-E4D170E62906}"/>
              </a:ext>
            </a:extLst>
          </p:cNvPr>
          <p:cNvSpPr txBox="1"/>
          <p:nvPr/>
        </p:nvSpPr>
        <p:spPr>
          <a:xfrm>
            <a:off x="1409700" y="4038600"/>
            <a:ext cx="10325100" cy="789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복잡한 데미지 계산식을 처리할 때 사용하는</a:t>
            </a: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20350"/>
              </a:lnSpc>
            </a:pP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Custom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Calculation Class</a:t>
            </a:r>
          </a:p>
          <a:p>
            <a:pPr lvl="0" algn="l">
              <a:lnSpc>
                <a:spcPct val="120350"/>
              </a:lnSpc>
            </a:pP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공격자의 공격 시작 시점의 공격력을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캡쳐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방어자의 피격 시점의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방어력을 캡쳐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공격자의 태그 여부를 검사해 필요한 처리 수행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캡쳐한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수치를 기반으로 데미지 계산 공식을 적용해 최종 데미지 산출</a:t>
            </a: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301DEE5-15D8-3996-209D-4F1E01361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0" y="1155700"/>
            <a:ext cx="9516777" cy="1100197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72238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FAFDE-FEEF-57A4-38C6-50CE0C0B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EED716-169C-C522-A66A-2C262FDAD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3E097FB-DD35-4C4C-E846-0B317A14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5207000"/>
            <a:ext cx="33020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AD5E406-BD01-B5D7-7477-BD5299F1A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5207000"/>
            <a:ext cx="3302000" cy="63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7A6F453-DBDE-670C-2E5A-A5CF905E3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5207000"/>
            <a:ext cx="3302000" cy="63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AB300C9-A440-212E-0D05-CB08DCDF8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0" y="5207000"/>
            <a:ext cx="4356100" cy="63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745DCD4-D8D1-9195-E7DF-710182E6A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400" y="5207000"/>
            <a:ext cx="3302000" cy="63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7BE9DFE-668B-8FD4-C6E1-A0F9E125CC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79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7123CD2-42D5-5B99-2B27-88D0AF384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2906CA1-568C-89C8-297F-EFC688137A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51A9C5A-81E1-3314-0FFE-5F39F7DF9F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F687D6E6-5B3F-CB8C-F264-BC2798AD89D6}"/>
              </a:ext>
            </a:extLst>
          </p:cNvPr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GAS </a:t>
            </a:r>
            <a:r>
              <a:rPr lang="en-US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Damage</a:t>
            </a:r>
            <a:r>
              <a:rPr lang="ko-KR" altLang="en-US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 </a:t>
            </a:r>
            <a:r>
              <a:rPr lang="en-US" altLang="ko-KR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Calculation</a:t>
            </a:r>
            <a:r>
              <a:rPr lang="ko-KR" altLang="en-US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 </a:t>
            </a:r>
            <a:r>
              <a:rPr lang="en-US" altLang="ko-KR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&amp;</a:t>
            </a:r>
            <a:r>
              <a:rPr lang="ko-KR" altLang="en-US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 </a:t>
            </a:r>
            <a:r>
              <a:rPr lang="en-US" altLang="ko-KR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Process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7D8D35A-8FF4-E882-15C0-4EAA2E9747A6}"/>
              </a:ext>
            </a:extLst>
          </p:cNvPr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GAS</a:t>
            </a: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데미지 계산 및 처리</a:t>
            </a:r>
            <a:endParaRPr lang="en-US" altLang="ko-KR" sz="6933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1F5BC9C-A280-D954-22DA-0B86ED9D749D}"/>
              </a:ext>
            </a:extLst>
          </p:cNvPr>
          <p:cNvSpPr txBox="1"/>
          <p:nvPr/>
        </p:nvSpPr>
        <p:spPr>
          <a:xfrm>
            <a:off x="1689100" y="6172200"/>
            <a:ext cx="53213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속성 캡처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22F6AA3-420B-2A4F-6762-23D13A17FE01}"/>
              </a:ext>
            </a:extLst>
          </p:cNvPr>
          <p:cNvSpPr txBox="1"/>
          <p:nvPr/>
        </p:nvSpPr>
        <p:spPr>
          <a:xfrm>
            <a:off x="16891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C8CD307-AB89-3189-39FC-6A522CC1681F}"/>
              </a:ext>
            </a:extLst>
          </p:cNvPr>
          <p:cNvSpPr txBox="1"/>
          <p:nvPr/>
        </p:nvSpPr>
        <p:spPr>
          <a:xfrm>
            <a:off x="1689100" y="7086600"/>
            <a:ext cx="46355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공격자의 공격 시점의 공격력을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Snapshot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캡처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피격자의 현재 방어력을 참조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6E141B4-8323-D671-C82D-1E894585BB6E}"/>
              </a:ext>
            </a:extLst>
          </p:cNvPr>
          <p:cNvSpPr txBox="1"/>
          <p:nvPr/>
        </p:nvSpPr>
        <p:spPr>
          <a:xfrm>
            <a:off x="7454899" y="6172200"/>
            <a:ext cx="4190999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데미지 계산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F65C70F-573E-5472-1C61-0E8771C6D618}"/>
              </a:ext>
            </a:extLst>
          </p:cNvPr>
          <p:cNvSpPr txBox="1"/>
          <p:nvPr/>
        </p:nvSpPr>
        <p:spPr>
          <a:xfrm>
            <a:off x="74549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0C0B530-1E1F-1091-917A-9719E66C6373}"/>
              </a:ext>
            </a:extLst>
          </p:cNvPr>
          <p:cNvSpPr txBox="1"/>
          <p:nvPr/>
        </p:nvSpPr>
        <p:spPr>
          <a:xfrm>
            <a:off x="7454900" y="7086600"/>
            <a:ext cx="41910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데미지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공격력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방어력</a:t>
            </a: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 데미지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0)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6808FEE-4703-9ED8-F639-95041B96E8A5}"/>
              </a:ext>
            </a:extLst>
          </p:cNvPr>
          <p:cNvSpPr txBox="1"/>
          <p:nvPr/>
        </p:nvSpPr>
        <p:spPr>
          <a:xfrm>
            <a:off x="13220700" y="61722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태그 검사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BF3DBAC-0CAB-5AAB-2C93-3210B5B25C81}"/>
              </a:ext>
            </a:extLst>
          </p:cNvPr>
          <p:cNvSpPr txBox="1"/>
          <p:nvPr/>
        </p:nvSpPr>
        <p:spPr>
          <a:xfrm>
            <a:off x="132207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64F3ADA-6DAE-500B-725F-25F128DD4891}"/>
              </a:ext>
            </a:extLst>
          </p:cNvPr>
          <p:cNvSpPr txBox="1"/>
          <p:nvPr/>
        </p:nvSpPr>
        <p:spPr>
          <a:xfrm>
            <a:off x="13169900" y="7086600"/>
            <a:ext cx="41783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공격자에게 특수한 태그가 있는지 검사해 태그 여부에 따라 다른 데미지 계산 공식 적용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방어력 무시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CD7E350-29EF-A1D4-6E15-A454E3279ABF}"/>
              </a:ext>
            </a:extLst>
          </p:cNvPr>
          <p:cNvSpPr txBox="1"/>
          <p:nvPr/>
        </p:nvSpPr>
        <p:spPr>
          <a:xfrm>
            <a:off x="18973800" y="6172200"/>
            <a:ext cx="3505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데미지 처리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BE90D05-17BA-5675-B2E2-F30DBA650C10}"/>
              </a:ext>
            </a:extLst>
          </p:cNvPr>
          <p:cNvSpPr txBox="1"/>
          <p:nvPr/>
        </p:nvSpPr>
        <p:spPr>
          <a:xfrm>
            <a:off x="189738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172E327-8B9F-D5DC-5050-0A7EE03BC482}"/>
              </a:ext>
            </a:extLst>
          </p:cNvPr>
          <p:cNvSpPr txBox="1"/>
          <p:nvPr/>
        </p:nvSpPr>
        <p:spPr>
          <a:xfrm>
            <a:off x="18961100" y="7086600"/>
            <a:ext cx="41148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NovaAttributeSet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메타 속성인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Damage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변경을 감지해 들어온 데미지만큼 체력 차감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90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EF1ED-FE1D-BC76-148F-E85600F4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3BED9AF-6C93-D14B-F4B3-67000062D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7E891A1-D477-8AB7-CDA6-E80548A440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9EFB90E-65E7-D73E-2AF9-08B34CD1B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10CE5A4-564A-0B56-F2D4-63B710571F0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282FC62-5ED0-4F70-F0FB-99795CA46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4FD44CF3-7A73-D0C0-5FF5-33ADE9ABEEFE}"/>
              </a:ext>
            </a:extLst>
          </p:cNvPr>
          <p:cNvSpPr txBox="1"/>
          <p:nvPr/>
        </p:nvSpPr>
        <p:spPr>
          <a:xfrm>
            <a:off x="2273300" y="58928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1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NovaGCN_Burst</a:t>
            </a:r>
            <a:endParaRPr lang="en-US" sz="3466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14703AE-ACDD-C32A-5566-69D3144E4AEF}"/>
              </a:ext>
            </a:extLst>
          </p:cNvPr>
          <p:cNvSpPr txBox="1"/>
          <p:nvPr/>
        </p:nvSpPr>
        <p:spPr>
          <a:xfrm>
            <a:off x="2273300" y="6832600"/>
            <a:ext cx="54483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폭발이나 피격 스파크 같은 단발성 효과를 처리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OnExecute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단계에서 전장의 안개를 검사해 시야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바깥에 있는 효과의 재생을 중단함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D9CD648-06D8-6A22-5969-979614403EDB}"/>
              </a:ext>
            </a:extLst>
          </p:cNvPr>
          <p:cNvSpPr txBox="1"/>
          <p:nvPr/>
        </p:nvSpPr>
        <p:spPr>
          <a:xfrm>
            <a:off x="2273300" y="50927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11A3F8E-430A-0768-6B48-E0B02A4C5995}"/>
              </a:ext>
            </a:extLst>
          </p:cNvPr>
          <p:cNvSpPr txBox="1"/>
          <p:nvPr/>
        </p:nvSpPr>
        <p:spPr>
          <a:xfrm>
            <a:off x="9525000" y="58547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1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NovaGCN_Looping</a:t>
            </a:r>
            <a:endParaRPr lang="en-US" sz="3466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57534BA-4FC5-BFCA-299C-545E5D2C9440}"/>
              </a:ext>
            </a:extLst>
          </p:cNvPr>
          <p:cNvSpPr txBox="1"/>
          <p:nvPr/>
        </p:nvSpPr>
        <p:spPr>
          <a:xfrm>
            <a:off x="9525000" y="6794500"/>
            <a:ext cx="5448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화염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연기와 같은 지속적인 효과를 처리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실시간으로 전장의 안개를 검사해 시야 바깥으로 벗어나면 효과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액터를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보이지 않도록 함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289491F-3CB7-C5ED-6C23-AC4C1C533553}"/>
              </a:ext>
            </a:extLst>
          </p:cNvPr>
          <p:cNvSpPr txBox="1"/>
          <p:nvPr/>
        </p:nvSpPr>
        <p:spPr>
          <a:xfrm>
            <a:off x="9525000" y="5054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 dirty="0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9887723-82AA-CE4E-7F2A-F1B6895ADD1F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Custom Gameplay Cue Notify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5DE564A-606A-F854-F656-B209CC1D3921}"/>
              </a:ext>
            </a:extLst>
          </p:cNvPr>
          <p:cNvSpPr txBox="1"/>
          <p:nvPr/>
        </p:nvSpPr>
        <p:spPr>
          <a:xfrm>
            <a:off x="1409700" y="1828800"/>
            <a:ext cx="14871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커스텀 </a:t>
            </a:r>
            <a:r>
              <a:rPr lang="en-US" altLang="ko-KR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GCN</a:t>
            </a:r>
          </a:p>
        </p:txBody>
      </p:sp>
    </p:spTree>
    <p:extLst>
      <p:ext uri="{BB962C8B-B14F-4D97-AF65-F5344CB8AC3E}">
        <p14:creationId xmlns:p14="http://schemas.microsoft.com/office/powerpoint/2010/main" val="283508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819FB-B615-ABF7-DD38-01AE4448D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F1DF804-E3E3-27BD-EB90-5B231C232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DA92B88-28B3-3C96-9202-A9F891B1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5207000"/>
            <a:ext cx="33020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1FBCD3F-34B1-9CFC-C17A-806C3847E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5207000"/>
            <a:ext cx="3302000" cy="63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EF933A1-933D-7EAB-3B0C-C285777EE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5207000"/>
            <a:ext cx="3302000" cy="63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9787F25-6054-B604-E5B3-9AC70179F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0" y="5207000"/>
            <a:ext cx="4356100" cy="63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560FD2C-6D47-53BE-F775-3B068637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400" y="5207000"/>
            <a:ext cx="3302000" cy="63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DC94B7F6-8B68-3B2A-D563-C33A35B4F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79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C0DBC615-C735-3008-0251-E3DF347FDD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84D36C7-43FC-0294-D9A9-E552845B95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A03462B-7DE3-C85C-3CCB-144EEB57BA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EF3A9F14-1F19-ABF8-E9C2-9C329B13E653}"/>
              </a:ext>
            </a:extLst>
          </p:cNvPr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GCN Process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E655B3-5B35-AD99-3740-DE18CBA83B07}"/>
              </a:ext>
            </a:extLst>
          </p:cNvPr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GCN </a:t>
            </a: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처리</a:t>
            </a:r>
            <a:endParaRPr lang="en-US" altLang="ko-KR" sz="6933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A15D45B-DA0E-8723-1D36-193DA5062375}"/>
              </a:ext>
            </a:extLst>
          </p:cNvPr>
          <p:cNvSpPr txBox="1"/>
          <p:nvPr/>
        </p:nvSpPr>
        <p:spPr>
          <a:xfrm>
            <a:off x="1689100" y="6172200"/>
            <a:ext cx="53213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dirty="0" err="1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어빌리티</a:t>
            </a:r>
            <a:r>
              <a:rPr lang="ko-KR" altLang="en-US" sz="3466" b="1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발동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67D11FB-E0CB-9191-19D5-C09852C544E1}"/>
              </a:ext>
            </a:extLst>
          </p:cNvPr>
          <p:cNvSpPr txBox="1"/>
          <p:nvPr/>
        </p:nvSpPr>
        <p:spPr>
          <a:xfrm>
            <a:off x="16891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33C9FB8-8C87-D681-1AB2-6D796240D1FD}"/>
              </a:ext>
            </a:extLst>
          </p:cNvPr>
          <p:cNvSpPr txBox="1"/>
          <p:nvPr/>
        </p:nvSpPr>
        <p:spPr>
          <a:xfrm>
            <a:off x="1689100" y="7086600"/>
            <a:ext cx="46355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어빌리티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발동시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무기 부품의 애니메이션 몽타주 재생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동시에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GCN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재생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포구 섬광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6325350-E448-817B-6357-690F97D7CF31}"/>
              </a:ext>
            </a:extLst>
          </p:cNvPr>
          <p:cNvSpPr txBox="1"/>
          <p:nvPr/>
        </p:nvSpPr>
        <p:spPr>
          <a:xfrm>
            <a:off x="7454899" y="6172200"/>
            <a:ext cx="4190999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E1EFFBF-BC23-240D-AEF3-D3CCFFDBCAD5}"/>
              </a:ext>
            </a:extLst>
          </p:cNvPr>
          <p:cNvSpPr txBox="1"/>
          <p:nvPr/>
        </p:nvSpPr>
        <p:spPr>
          <a:xfrm>
            <a:off x="74549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90C19C6-D9E0-D733-C574-F8CA26903C90}"/>
              </a:ext>
            </a:extLst>
          </p:cNvPr>
          <p:cNvSpPr txBox="1"/>
          <p:nvPr/>
        </p:nvSpPr>
        <p:spPr>
          <a:xfrm>
            <a:off x="7454900" y="7086600"/>
            <a:ext cx="41910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피격된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액터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히트스캔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혹은 발사체 위치에서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GCN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재생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피격 효과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4664F9F-A519-2E4E-92A7-60FFC3CB15C5}"/>
              </a:ext>
            </a:extLst>
          </p:cNvPr>
          <p:cNvSpPr txBox="1"/>
          <p:nvPr/>
        </p:nvSpPr>
        <p:spPr>
          <a:xfrm>
            <a:off x="13220700" y="61722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체력 비례 효과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E52B449-DD1E-08FC-CB89-DB99EE01A158}"/>
              </a:ext>
            </a:extLst>
          </p:cNvPr>
          <p:cNvSpPr txBox="1"/>
          <p:nvPr/>
        </p:nvSpPr>
        <p:spPr>
          <a:xfrm>
            <a:off x="132207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AF3F8EA-6E6A-8701-684C-97A012F54E8E}"/>
              </a:ext>
            </a:extLst>
          </p:cNvPr>
          <p:cNvSpPr txBox="1"/>
          <p:nvPr/>
        </p:nvSpPr>
        <p:spPr>
          <a:xfrm>
            <a:off x="13169900" y="7086600"/>
            <a:ext cx="41783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피격된 대상의 체력에 따라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GCN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부착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화염 및 연기 효과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8F4B80F-5830-A799-C1FB-6464ABB6A552}"/>
              </a:ext>
            </a:extLst>
          </p:cNvPr>
          <p:cNvSpPr txBox="1"/>
          <p:nvPr/>
        </p:nvSpPr>
        <p:spPr>
          <a:xfrm>
            <a:off x="18973800" y="6172200"/>
            <a:ext cx="3505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폭발</a:t>
            </a:r>
            <a:r>
              <a:rPr lang="en-US" altLang="ko-KR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EAB48AE-10D2-718B-537F-233B40E01989}"/>
              </a:ext>
            </a:extLst>
          </p:cNvPr>
          <p:cNvSpPr txBox="1"/>
          <p:nvPr/>
        </p:nvSpPr>
        <p:spPr>
          <a:xfrm>
            <a:off x="189738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C3C096B-BF8A-1179-1842-5F73E6EA9203}"/>
              </a:ext>
            </a:extLst>
          </p:cNvPr>
          <p:cNvSpPr txBox="1"/>
          <p:nvPr/>
        </p:nvSpPr>
        <p:spPr>
          <a:xfrm>
            <a:off x="18961100" y="7086600"/>
            <a:ext cx="41148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유닛의 체력이 모두 고갈되면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GCN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재생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폭발 효과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3C09BEEE-D422-13C4-DB49-9715F573C248}"/>
              </a:ext>
            </a:extLst>
          </p:cNvPr>
          <p:cNvSpPr txBox="1"/>
          <p:nvPr/>
        </p:nvSpPr>
        <p:spPr>
          <a:xfrm>
            <a:off x="7454898" y="6172200"/>
            <a:ext cx="4190999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>
              <a:lnSpc>
                <a:spcPct val="98770"/>
              </a:lnSpc>
            </a:pPr>
            <a:r>
              <a:rPr lang="ko-KR" altLang="en-US" sz="3466" b="1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타격 피드백</a:t>
            </a:r>
            <a:endParaRPr lang="en-US" altLang="ko-KR" sz="3466" b="1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9709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06147-F89F-8FD6-AFF0-B023DC43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87FE8B6-0D2F-05C1-CCEF-CFCCBC24D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F51C462-9514-D411-B320-12246002D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49403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C71C8C7-71A3-EC9E-CA71-8A7289E90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49403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521BFCB0-3E0D-A607-786F-86B220F79A6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3848100" y="4940300"/>
            <a:ext cx="4711700" cy="15748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C004BE3-B3D9-C46E-F938-0116E1B6A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5638800"/>
            <a:ext cx="2679700" cy="25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622B487-A8EB-D41F-6774-4D436E1B79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78105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59354203-F3A1-45A3-CAC5-DF716C1546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00" y="78105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BCFBD456-055D-A833-C6B5-0263EFB1615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3848100" y="7874000"/>
            <a:ext cx="4711700" cy="15748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5EAE1A6-30D5-83AE-BB0E-9E362DE33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8585200"/>
            <a:ext cx="2679700" cy="25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6DF700E2-2190-BED0-9252-3F0583F04252}"/>
              </a:ext>
            </a:extLst>
          </p:cNvPr>
          <p:cNvSpPr txBox="1"/>
          <p:nvPr/>
        </p:nvSpPr>
        <p:spPr>
          <a:xfrm>
            <a:off x="11671300" y="4876800"/>
            <a:ext cx="112014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 유닛의 경로 탐색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이동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 등의 기능을 담당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플레이어의 명령을 데이터화해 행동 트리로 실행하는 </a:t>
            </a:r>
            <a:r>
              <a:rPr lang="en-US" altLang="ko-KR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컨트롤러</a:t>
            </a:r>
            <a:endParaRPr lang="en-US" sz="320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C630018-FFB1-99B0-B7C7-37A0F6EA133E}"/>
              </a:ext>
            </a:extLst>
          </p:cNvPr>
          <p:cNvSpPr txBox="1"/>
          <p:nvPr/>
        </p:nvSpPr>
        <p:spPr>
          <a:xfrm>
            <a:off x="11671300" y="7747000"/>
            <a:ext cx="112014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빌드 오더에 따라 유닛 생산 및 공격을 개시하고 상황에 따라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발동 및 카운터 유닛을 생산하는 동적 대응이 가능한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A8C5242-95AF-094E-B082-A045F5662A89}"/>
              </a:ext>
            </a:extLst>
          </p:cNvPr>
          <p:cNvSpPr txBox="1"/>
          <p:nvPr/>
        </p:nvSpPr>
        <p:spPr>
          <a:xfrm>
            <a:off x="4445000" y="54483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ko-KR" altLang="en-US" sz="3200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</a:t>
            </a:r>
            <a:r>
              <a:rPr lang="en-US" altLang="ko-KR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AI</a:t>
            </a:r>
            <a:endParaRPr lang="en-US" sz="3200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D9D553A-365D-32BE-78FD-EFA8CBC84F97}"/>
              </a:ext>
            </a:extLst>
          </p:cNvPr>
          <p:cNvSpPr txBox="1"/>
          <p:nvPr/>
        </p:nvSpPr>
        <p:spPr>
          <a:xfrm>
            <a:off x="4445000" y="8331200"/>
            <a:ext cx="3517900" cy="5461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altLang="ko-KR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</a:t>
            </a:r>
            <a:endParaRPr lang="en-US" sz="3200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08B3C09-9590-C8D6-33EC-DC7F516515B9}"/>
              </a:ext>
            </a:extLst>
          </p:cNvPr>
          <p:cNvSpPr txBox="1"/>
          <p:nvPr/>
        </p:nvSpPr>
        <p:spPr>
          <a:xfrm>
            <a:off x="1739900" y="54229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F0FAA01-7153-5F2A-8639-4D24798FA47F}"/>
              </a:ext>
            </a:extLst>
          </p:cNvPr>
          <p:cNvSpPr txBox="1"/>
          <p:nvPr/>
        </p:nvSpPr>
        <p:spPr>
          <a:xfrm>
            <a:off x="1739900" y="82931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F276433-4213-7905-E405-76DAB44FED2A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AI System Architecture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2B73484-1137-33F6-91EE-0FF80E771474}"/>
              </a:ext>
            </a:extLst>
          </p:cNvPr>
          <p:cNvSpPr txBox="1"/>
          <p:nvPr/>
        </p:nvSpPr>
        <p:spPr>
          <a:xfrm>
            <a:off x="1409700" y="1828800"/>
            <a:ext cx="160528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387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18C75-9375-0A6F-3A9E-C3F1345A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C6DCC98-64C4-F1E8-0CDB-053E21F2D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CE591B04-152A-C293-C325-B1C435B37DB0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Unit AI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BC6DF69-BC08-DFA8-0E10-9BE4E969C690}"/>
              </a:ext>
            </a:extLst>
          </p:cNvPr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 </a:t>
            </a:r>
            <a:r>
              <a:rPr lang="en-US" altLang="ko-KR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03918D92-1958-5D62-820B-50A7E4565303}"/>
              </a:ext>
            </a:extLst>
          </p:cNvPr>
          <p:cNvSpPr txBox="1"/>
          <p:nvPr/>
        </p:nvSpPr>
        <p:spPr>
          <a:xfrm>
            <a:off x="3264415" y="9906000"/>
            <a:ext cx="17855170" cy="214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플레이어의 키보드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마우스 입력을 해석해 데이터로 변환하고</a:t>
            </a: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2035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변환된 데이터로 행동 트리를 실행해 유닛이 사용자의 의도대로 제어될 수 있도록 설계 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B34C8D0-3902-76B6-5B76-9408875C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49" y="3733800"/>
            <a:ext cx="22110701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92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4E952-BEB4-3637-11DB-3306F37D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E6442BC-DAE1-2865-D3CD-32B9EF38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4792C75-5C98-1391-8689-9217AE019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0" y="5397500"/>
            <a:ext cx="14058900" cy="25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6F2BA8E-AFE6-DD54-6E2C-4DA2524A0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7150100"/>
            <a:ext cx="14058900" cy="25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CFE51B2-ADFE-3E61-4F0D-42B29407B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8915400"/>
            <a:ext cx="140589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ECB1C543-BA8C-690D-1B7D-12094247AB3F}"/>
              </a:ext>
            </a:extLst>
          </p:cNvPr>
          <p:cNvSpPr txBox="1"/>
          <p:nvPr/>
        </p:nvSpPr>
        <p:spPr>
          <a:xfrm>
            <a:off x="6388100" y="4267200"/>
            <a:ext cx="11722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>
              <a:lnSpc>
                <a:spcPct val="98770"/>
              </a:lnSpc>
            </a:pPr>
            <a:r>
              <a:rPr lang="ko-KR" altLang="en-US" sz="3466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명령 하달</a:t>
            </a:r>
            <a:r>
              <a:rPr lang="en-US" altLang="ko-KR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유닛이 </a:t>
            </a:r>
            <a:r>
              <a:rPr lang="en-US" altLang="ko-KR" sz="3466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NovaPlayerController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로부터 명령을 </a:t>
            </a:r>
            <a:r>
              <a:rPr lang="ko-KR" altLang="en-US" sz="3466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하달받음</a:t>
            </a:r>
            <a:endParaRPr lang="en-US" altLang="ko-KR" sz="3466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983BB52-24C5-5D3D-BC52-887DA35AFAE2}"/>
              </a:ext>
            </a:extLst>
          </p:cNvPr>
          <p:cNvSpPr txBox="1"/>
          <p:nvPr/>
        </p:nvSpPr>
        <p:spPr>
          <a:xfrm>
            <a:off x="5334000" y="42672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6FD31CC-7290-11CC-203A-4D617F05EA6B}"/>
              </a:ext>
            </a:extLst>
          </p:cNvPr>
          <p:cNvSpPr txBox="1"/>
          <p:nvPr/>
        </p:nvSpPr>
        <p:spPr>
          <a:xfrm>
            <a:off x="6388100" y="6007100"/>
            <a:ext cx="11887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>
              <a:lnSpc>
                <a:spcPct val="98770"/>
              </a:lnSpc>
            </a:pPr>
            <a:r>
              <a:rPr lang="ko-KR" altLang="en-US" sz="3466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명령 중계</a:t>
            </a:r>
            <a:r>
              <a:rPr lang="en-US" altLang="ko-KR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유닛이 해석한 명령을 유닛의 </a:t>
            </a:r>
            <a:r>
              <a:rPr lang="en-US" altLang="ko-KR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Controller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전달</a:t>
            </a:r>
            <a:endParaRPr lang="en-US" altLang="ko-KR" sz="3466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23B309-5A71-A2F2-A979-0474AB53DB5D}"/>
              </a:ext>
            </a:extLst>
          </p:cNvPr>
          <p:cNvSpPr txBox="1"/>
          <p:nvPr/>
        </p:nvSpPr>
        <p:spPr>
          <a:xfrm>
            <a:off x="5334000" y="60071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C5DB47-FE9A-367F-23D5-19599325D9BF}"/>
              </a:ext>
            </a:extLst>
          </p:cNvPr>
          <p:cNvSpPr txBox="1"/>
          <p:nvPr/>
        </p:nvSpPr>
        <p:spPr>
          <a:xfrm>
            <a:off x="6388100" y="7734300"/>
            <a:ext cx="1139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>
              <a:lnSpc>
                <a:spcPct val="98770"/>
              </a:lnSpc>
            </a:pPr>
            <a:r>
              <a:rPr lang="ko-KR" altLang="en-US" sz="3466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데이터화</a:t>
            </a:r>
            <a:r>
              <a:rPr lang="en-US" altLang="ko-KR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3466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NovaAIController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명령을 블랙보드 데이터로 변환</a:t>
            </a:r>
            <a:endParaRPr lang="en-US" altLang="ko-KR" sz="3466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2EA04F9-56DC-D0A4-010D-FC4E4E4703B0}"/>
              </a:ext>
            </a:extLst>
          </p:cNvPr>
          <p:cNvSpPr txBox="1"/>
          <p:nvPr/>
        </p:nvSpPr>
        <p:spPr>
          <a:xfrm>
            <a:off x="5334000" y="77343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7E4DB66-1053-A24B-A475-E13059ADA66F}"/>
              </a:ext>
            </a:extLst>
          </p:cNvPr>
          <p:cNvSpPr txBox="1"/>
          <p:nvPr/>
        </p:nvSpPr>
        <p:spPr>
          <a:xfrm>
            <a:off x="6388100" y="9474200"/>
            <a:ext cx="1139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>
              <a:lnSpc>
                <a:spcPct val="98770"/>
              </a:lnSpc>
            </a:pPr>
            <a:r>
              <a:rPr lang="ko-KR" altLang="en-US" sz="3466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행동 실행</a:t>
            </a:r>
            <a:r>
              <a:rPr lang="en-US" altLang="ko-KR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블랙보드의 상태에 따라 이동</a:t>
            </a:r>
            <a:r>
              <a:rPr lang="en-US" altLang="ko-KR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 등 </a:t>
            </a:r>
            <a:r>
              <a:rPr lang="en-US" altLang="ko-KR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Task </a:t>
            </a:r>
            <a:r>
              <a:rPr lang="ko-KR" altLang="en-US" sz="3466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수행</a:t>
            </a:r>
            <a:endParaRPr lang="en-US" altLang="ko-KR" sz="3466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EA4D891-E3AF-6024-9647-057A2E71FA95}"/>
              </a:ext>
            </a:extLst>
          </p:cNvPr>
          <p:cNvSpPr txBox="1"/>
          <p:nvPr/>
        </p:nvSpPr>
        <p:spPr>
          <a:xfrm>
            <a:off x="5334000" y="94742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0731DDD-235C-E1C7-98C4-B7DB6E30F196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Unit AI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43A63C9-DFEC-3916-6F16-F0F0583708B3}"/>
              </a:ext>
            </a:extLst>
          </p:cNvPr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 </a:t>
            </a:r>
            <a:r>
              <a:rPr lang="en-US" altLang="ko-KR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2073846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3AFC2-D8A3-8DE1-4BCD-5798776A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1DDE6FB-007E-42F4-7611-93D6BE4D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70DD0B29-96FE-D85B-FDC4-A64A909EF847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AI </a:t>
            </a:r>
            <a:r>
              <a:rPr lang="en-US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Player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98B98C8-2143-F254-D691-401B2E68D338}"/>
              </a:ext>
            </a:extLst>
          </p:cNvPr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345A7C7-F433-8E5D-ECA3-B5E12EAC0370}"/>
              </a:ext>
            </a:extLst>
          </p:cNvPr>
          <p:cNvSpPr txBox="1"/>
          <p:nvPr/>
        </p:nvSpPr>
        <p:spPr>
          <a:xfrm>
            <a:off x="3264415" y="10655300"/>
            <a:ext cx="17855170" cy="214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테이블에 정의된 빌드 오더에 따라 유닛을 생산하고 공격을 개시하며</a:t>
            </a: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20350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상황에 따라 빌드 오더를 중단하고 적합한 카운터 유닛을 생산하고 스킬을 발동할 수 있도록 설계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AD54F4-3911-C4C2-44AB-DB3BDA7E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374" y="3448050"/>
            <a:ext cx="15187251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79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F6136-1C14-69F5-0907-1352F1835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DC53925-19C8-FBB5-B483-30FE269D2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8C9BA77-98CD-89BF-F864-DE269C138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102870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CF45055-0575-386A-46E8-67F400CE3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102743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C368BD2-471D-8CF5-DC95-29C50704971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3848100" y="10287000"/>
            <a:ext cx="4711700" cy="1574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5B83FC5-2554-D072-4269-7667FECC6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11049000"/>
            <a:ext cx="2679700" cy="25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454E82D-A6F6-0403-561E-6FDF51E84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45466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5046560-3122-71D5-5D31-7162F4554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00" y="45466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1BBC430-EFB8-7AFA-6948-BCF84EADAFE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3848100" y="4546600"/>
            <a:ext cx="4711700" cy="15748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3E407F9-9B42-BA00-8C3C-F2D06A225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5245100"/>
            <a:ext cx="2679700" cy="25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B55CBE8-96EC-479A-4132-247846CA70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8600" y="74168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57AFFC95-5F58-0D5A-6BCA-204236F244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8100" y="74168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D683678A-2B57-F030-2882-88B8C467AF76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3848100" y="7416800"/>
            <a:ext cx="4711700" cy="15748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19C1B1F2-1674-8B5A-3805-746DF2F84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8191500"/>
            <a:ext cx="2679700" cy="254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82153BD5-3323-AE56-8288-7BE9112E66E3}"/>
              </a:ext>
            </a:extLst>
          </p:cNvPr>
          <p:cNvSpPr txBox="1"/>
          <p:nvPr/>
        </p:nvSpPr>
        <p:spPr>
          <a:xfrm>
            <a:off x="11671300" y="10210800"/>
            <a:ext cx="112014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자신의 기지가 위험에 처했는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지를 판단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빌드 오더 수행을 중단하고 카운터 유닛 생산 및 스킬 발동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7518E32-AA57-C71D-E310-6002F5C1B783}"/>
              </a:ext>
            </a:extLst>
          </p:cNvPr>
          <p:cNvSpPr txBox="1"/>
          <p:nvPr/>
        </p:nvSpPr>
        <p:spPr>
          <a:xfrm>
            <a:off x="11671300" y="4483100"/>
            <a:ext cx="112014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테이블에 정의된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빌드 오더에 따라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유닛 생산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발동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 개시 수행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오프닝 빌드 오더가 완료되면 반복 빌드 오더를 반복 수행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919F617-788E-F545-B3B2-3AF899EFF185}"/>
              </a:ext>
            </a:extLst>
          </p:cNvPr>
          <p:cNvSpPr txBox="1"/>
          <p:nvPr/>
        </p:nvSpPr>
        <p:spPr>
          <a:xfrm>
            <a:off x="11671300" y="7353300"/>
            <a:ext cx="112014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 노드를 통해 매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틱마다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적 유닛의 카운터 유닛과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필요로 하는 스킬을 판단해 블랙보드에 기록하고 수행</a:t>
            </a:r>
            <a:endParaRPr lang="en-US" sz="320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62A9647-B427-179D-2FDC-B165B6CDD99A}"/>
              </a:ext>
            </a:extLst>
          </p:cNvPr>
          <p:cNvSpPr txBox="1"/>
          <p:nvPr/>
        </p:nvSpPr>
        <p:spPr>
          <a:xfrm>
            <a:off x="4445000" y="107823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ko-KR" altLang="en-US" sz="3200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긴급 방어</a:t>
            </a:r>
            <a:endParaRPr lang="en-US" sz="3200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4D6174F-526C-E92B-2426-D1EC5DCC09B9}"/>
              </a:ext>
            </a:extLst>
          </p:cNvPr>
          <p:cNvSpPr txBox="1"/>
          <p:nvPr/>
        </p:nvSpPr>
        <p:spPr>
          <a:xfrm>
            <a:off x="4445000" y="50546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ko-KR" altLang="en-US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빌드 오더</a:t>
            </a:r>
            <a:endParaRPr lang="en-US" sz="3200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4BFF54D-61CC-7FE2-D980-A14B9F1113A2}"/>
              </a:ext>
            </a:extLst>
          </p:cNvPr>
          <p:cNvSpPr txBox="1"/>
          <p:nvPr/>
        </p:nvSpPr>
        <p:spPr>
          <a:xfrm>
            <a:off x="4445000" y="7670800"/>
            <a:ext cx="3517900" cy="1054100"/>
          </a:xfrm>
          <a:prstGeom prst="rect">
            <a:avLst/>
          </a:prstGeom>
        </p:spPr>
        <p:txBody>
          <a:bodyPr lIns="0" tIns="42672" rIns="0" bIns="0" rtlCol="0" anchor="ctr"/>
          <a:lstStyle/>
          <a:p>
            <a:pPr lvl="0" algn="ctr">
              <a:lnSpc>
                <a:spcPct val="98770"/>
              </a:lnSpc>
            </a:pPr>
            <a:r>
              <a:rPr lang="ko-KR" altLang="en-US" sz="3200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전황 분석</a:t>
            </a:r>
            <a:endParaRPr lang="en-US" sz="3200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8526A6D-4B0E-1842-9B16-C736F04BE596}"/>
              </a:ext>
            </a:extLst>
          </p:cNvPr>
          <p:cNvSpPr txBox="1"/>
          <p:nvPr/>
        </p:nvSpPr>
        <p:spPr>
          <a:xfrm>
            <a:off x="1739900" y="107569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E405B5B-125F-407B-A93E-F8189D5C7C32}"/>
              </a:ext>
            </a:extLst>
          </p:cNvPr>
          <p:cNvSpPr txBox="1"/>
          <p:nvPr/>
        </p:nvSpPr>
        <p:spPr>
          <a:xfrm>
            <a:off x="1739900" y="50292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1BA594A-EDA2-368E-46BC-928F8F00229B}"/>
              </a:ext>
            </a:extLst>
          </p:cNvPr>
          <p:cNvSpPr txBox="1"/>
          <p:nvPr/>
        </p:nvSpPr>
        <p:spPr>
          <a:xfrm>
            <a:off x="1739900" y="78994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3D499B5-7DAD-131A-E9D8-F4ECF1A18BC1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AI Player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450AD86-E9D9-D0DF-E9DF-B9799AB09E83}"/>
              </a:ext>
            </a:extLst>
          </p:cNvPr>
          <p:cNvSpPr txBox="1"/>
          <p:nvPr/>
        </p:nvSpPr>
        <p:spPr>
          <a:xfrm>
            <a:off x="1409700" y="1828800"/>
            <a:ext cx="160528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6933" b="1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050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AF6AE-EF76-F734-11A6-BF0A8DC9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41EF254-280F-DC30-34C2-65A1EA7DD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-25400"/>
            <a:ext cx="24384000" cy="137160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1F8D4DE-6BD0-391E-1B3E-7788B61CAEA5}"/>
              </a:ext>
            </a:extLst>
          </p:cNvPr>
          <p:cNvSpPr txBox="1"/>
          <p:nvPr/>
        </p:nvSpPr>
        <p:spPr>
          <a:xfrm>
            <a:off x="1409700" y="1955800"/>
            <a:ext cx="1172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오브젝트 </a:t>
            </a:r>
            <a:r>
              <a:rPr lang="ko-KR" altLang="en-US" sz="6933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풀링</a:t>
            </a:r>
            <a:endParaRPr lang="en-US" sz="6933" b="1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70998E9-BB50-50E7-8D1A-8D74E7ECC921}"/>
              </a:ext>
            </a:extLst>
          </p:cNvPr>
          <p:cNvSpPr txBox="1"/>
          <p:nvPr/>
        </p:nvSpPr>
        <p:spPr>
          <a:xfrm>
            <a:off x="1498600" y="1155700"/>
            <a:ext cx="65024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Object Pooling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E2AD762-83CF-8AA3-D7E3-E24213A72887}"/>
              </a:ext>
            </a:extLst>
          </p:cNvPr>
          <p:cNvSpPr txBox="1"/>
          <p:nvPr/>
        </p:nvSpPr>
        <p:spPr>
          <a:xfrm>
            <a:off x="1409700" y="4038600"/>
            <a:ext cx="10325100" cy="789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RTS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특성상 빈번하게 발생하는 유닛 생성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파괴로 인한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부하와 </a:t>
            </a:r>
            <a:r>
              <a:rPr lang="en-US" altLang="ko-KR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Hitch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방지하기 위해 오브젝트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풀링을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구현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lvl="0" algn="l">
              <a:lnSpc>
                <a:spcPct val="120350"/>
              </a:lnSpc>
            </a:pP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altLang="ko-KR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INovaObjectPoolable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구현하는 모든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액터를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관리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571500" lvl="0" indent="-57150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필요로 하는 오브젝트의 수량을 예측해서 미리 생성하는 지능적 사전 생성</a:t>
            </a:r>
            <a:endParaRPr lang="en-US" altLang="ko-KR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485A1B-745E-7385-A2F7-D3070FF82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102" y="1955800"/>
            <a:ext cx="10325100" cy="939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64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E4E27-68E5-CD18-6E5F-43A3720A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B8A414F-E4E2-FF85-F675-BD4C70958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DA306F1-77CE-CA99-97BA-F7822ACB8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5207000"/>
            <a:ext cx="3302000" cy="63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57AA927-02F5-5995-3A16-E082D263C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5207000"/>
            <a:ext cx="3302000" cy="63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F3F5486-8A09-8257-0AB8-CFD028AAB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5207000"/>
            <a:ext cx="3302000" cy="63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097A0CD-005B-3197-A29C-FA058B723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0" y="5207000"/>
            <a:ext cx="4356100" cy="63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D156E4A-65F0-3CE5-135F-C982F26E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400" y="5207000"/>
            <a:ext cx="3302000" cy="63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E060CE9-3124-635A-ABA9-87F3EEE01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79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E395C39-FB8F-E6C7-EE40-1DA4892BE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FC6A8439-09B2-8625-E1F6-D9677AB903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154B97D-603F-4A3A-9B21-C321FC6450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594861E8-8C12-BE79-3A7F-8090DD7466BD}"/>
              </a:ext>
            </a:extLst>
          </p:cNvPr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2666" spc="-100" dirty="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Object Pooling Process</a:t>
            </a:r>
            <a:endParaRPr lang="en-US" sz="2666" b="0" i="0" u="none" strike="noStrike" spc="-100" dirty="0">
              <a:solidFill>
                <a:srgbClr val="00C6DB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15ACC33-91F4-60A8-671A-1F35E0C0AEA3}"/>
              </a:ext>
            </a:extLst>
          </p:cNvPr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오브젝트 </a:t>
            </a:r>
            <a:r>
              <a:rPr lang="ko-KR" altLang="en-US" sz="6933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풀링</a:t>
            </a:r>
            <a:r>
              <a:rPr lang="ko-KR" altLang="en-US" sz="6933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절차</a:t>
            </a:r>
            <a:endParaRPr lang="en-US" altLang="ko-KR" sz="6933" b="1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3B8583C-83C2-33A6-B22C-04CCA9DCBFEF}"/>
              </a:ext>
            </a:extLst>
          </p:cNvPr>
          <p:cNvSpPr txBox="1"/>
          <p:nvPr/>
        </p:nvSpPr>
        <p:spPr>
          <a:xfrm>
            <a:off x="1689100" y="6172200"/>
            <a:ext cx="53213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dirty="0" err="1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덱</a:t>
            </a:r>
            <a:r>
              <a:rPr lang="ko-KR" altLang="en-US" sz="3466" b="1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로드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D9A957E-8030-2DBD-ED53-D8EBE626D119}"/>
              </a:ext>
            </a:extLst>
          </p:cNvPr>
          <p:cNvSpPr txBox="1"/>
          <p:nvPr/>
        </p:nvSpPr>
        <p:spPr>
          <a:xfrm>
            <a:off x="16891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A96B911-1688-4584-AD5F-64D2D521E6ED}"/>
              </a:ext>
            </a:extLst>
          </p:cNvPr>
          <p:cNvSpPr txBox="1"/>
          <p:nvPr/>
        </p:nvSpPr>
        <p:spPr>
          <a:xfrm>
            <a:off x="1689100" y="7086600"/>
            <a:ext cx="46355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모드가 플레이어와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덱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프리셋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정보를 로드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72C2FA9-2E40-DD44-88CF-39EE8FFB741F}"/>
              </a:ext>
            </a:extLst>
          </p:cNvPr>
          <p:cNvSpPr txBox="1"/>
          <p:nvPr/>
        </p:nvSpPr>
        <p:spPr>
          <a:xfrm>
            <a:off x="7454899" y="6172200"/>
            <a:ext cx="4190999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4D079CC-7829-EC08-6B81-FED5ABC73B25}"/>
              </a:ext>
            </a:extLst>
          </p:cNvPr>
          <p:cNvSpPr txBox="1"/>
          <p:nvPr/>
        </p:nvSpPr>
        <p:spPr>
          <a:xfrm>
            <a:off x="74549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76C68DB-190E-33BF-28E3-294F396110B9}"/>
              </a:ext>
            </a:extLst>
          </p:cNvPr>
          <p:cNvSpPr txBox="1"/>
          <p:nvPr/>
        </p:nvSpPr>
        <p:spPr>
          <a:xfrm>
            <a:off x="7454900" y="7086600"/>
            <a:ext cx="41910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게임 모드가 부품 정보가 담긴 데이터 테이블을 서브시스템에 전달해 부품 스펙을 조회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CC10557-CD00-501B-CBB3-3B48F2FA4A89}"/>
              </a:ext>
            </a:extLst>
          </p:cNvPr>
          <p:cNvSpPr txBox="1"/>
          <p:nvPr/>
        </p:nvSpPr>
        <p:spPr>
          <a:xfrm>
            <a:off x="13220700" y="6172200"/>
            <a:ext cx="3505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지능적 사전 생성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555B044-DA61-936D-25B6-4D9E243246DF}"/>
              </a:ext>
            </a:extLst>
          </p:cNvPr>
          <p:cNvSpPr txBox="1"/>
          <p:nvPr/>
        </p:nvSpPr>
        <p:spPr>
          <a:xfrm>
            <a:off x="132207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CC659B6-866F-3C05-EE24-193EC9A793BA}"/>
              </a:ext>
            </a:extLst>
          </p:cNvPr>
          <p:cNvSpPr txBox="1"/>
          <p:nvPr/>
        </p:nvSpPr>
        <p:spPr>
          <a:xfrm>
            <a:off x="13169900" y="7086600"/>
            <a:ext cx="41783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로드된 </a:t>
            </a:r>
            <a:r>
              <a:rPr lang="ko-KR" altLang="en-US" sz="3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덱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정보를 바탕으로 실제 게임 중 생성될 수 있는 모든 유닛과 부품의 최대치를 계산해 사전 생성</a:t>
            </a:r>
            <a:endParaRPr lang="en-US" altLang="ko-KR" sz="320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3023170-5070-A7B2-B71D-673B2FC2090D}"/>
              </a:ext>
            </a:extLst>
          </p:cNvPr>
          <p:cNvSpPr txBox="1"/>
          <p:nvPr/>
        </p:nvSpPr>
        <p:spPr>
          <a:xfrm>
            <a:off x="18973800" y="6172200"/>
            <a:ext cx="3505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ko-KR" altLang="en-US" sz="3466" b="1" i="0" u="none" strike="noStrike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오브젝트 반환</a:t>
            </a:r>
            <a:endParaRPr lang="en-US" sz="3466" b="1" i="0" u="none" strike="noStrike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4A82DDB-330C-1806-DFF3-7B36D1B908B7}"/>
              </a:ext>
            </a:extLst>
          </p:cNvPr>
          <p:cNvSpPr txBox="1"/>
          <p:nvPr/>
        </p:nvSpPr>
        <p:spPr>
          <a:xfrm>
            <a:off x="189738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E1899A9-297F-F11C-686A-F54219D3407C}"/>
              </a:ext>
            </a:extLst>
          </p:cNvPr>
          <p:cNvSpPr txBox="1"/>
          <p:nvPr/>
        </p:nvSpPr>
        <p:spPr>
          <a:xfrm>
            <a:off x="18961100" y="7086600"/>
            <a:ext cx="41148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서브시스템 및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액터의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요청을 받으면 미리 생성된 오브젝트를 반환</a:t>
            </a:r>
            <a:endParaRPr lang="en-US" sz="3200" b="0" i="0" u="none" strike="noStrike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1AC73316-04D0-FEA6-FA59-71F2BA220606}"/>
              </a:ext>
            </a:extLst>
          </p:cNvPr>
          <p:cNvSpPr txBox="1"/>
          <p:nvPr/>
        </p:nvSpPr>
        <p:spPr>
          <a:xfrm>
            <a:off x="7454898" y="6172200"/>
            <a:ext cx="4190999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>
              <a:lnSpc>
                <a:spcPct val="98770"/>
              </a:lnSpc>
            </a:pPr>
            <a:r>
              <a:rPr lang="ko-KR" altLang="en-US" sz="3466" b="1" dirty="0">
                <a:solidFill>
                  <a:srgbClr val="00C6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테이블 연동</a:t>
            </a:r>
            <a:endParaRPr lang="en-US" altLang="ko-KR" sz="3466" b="1" dirty="0">
              <a:solidFill>
                <a:srgbClr val="00C6D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69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F2A0E-BF3F-95C4-43E5-5FBF975E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78FBD67-7C52-B8B4-A0E9-9D0C861E7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7" name="TextBox 5">
            <a:extLst>
              <a:ext uri="{FF2B5EF4-FFF2-40B4-BE49-F238E27FC236}">
                <a16:creationId xmlns:a16="http://schemas.microsoft.com/office/drawing/2014/main" id="{62333FE5-6E24-0BA6-2CD5-FBD0D3A32064}"/>
              </a:ext>
            </a:extLst>
          </p:cNvPr>
          <p:cNvSpPr txBox="1"/>
          <p:nvPr/>
        </p:nvSpPr>
        <p:spPr>
          <a:xfrm>
            <a:off x="4133850" y="5588000"/>
            <a:ext cx="16116300" cy="254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3800" b="1" i="0" u="none" strike="noStrike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Thank you!</a:t>
            </a:r>
            <a:endParaRPr lang="en-US" sz="13800" b="1" i="0" u="none" strike="noStrike" dirty="0">
              <a:solidFill>
                <a:srgbClr val="00B0F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499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600" y="1549400"/>
            <a:ext cx="8458200" cy="11087100"/>
          </a:xfrm>
          <a:prstGeom prst="rect">
            <a:avLst/>
          </a:prstGeom>
          <a:effectLst>
            <a:outerShdw blurRad="169099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6400" y="1828800"/>
            <a:ext cx="7848600" cy="10528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09700" y="1955800"/>
            <a:ext cx="1172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Cameron Blake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8600" y="1155700"/>
            <a:ext cx="39116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Instructor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9700" y="9728200"/>
            <a:ext cx="610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Field of Study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4660900"/>
            <a:ext cx="10325100" cy="214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This slide introduces the instructor.</a:t>
            </a:r>
          </a:p>
          <a:p>
            <a:pPr lvl="0" algn="l">
              <a:lnSpc>
                <a:spcPct val="120350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brief instructor introduction here. </a:t>
            </a:r>
          </a:p>
          <a:p>
            <a:pPr lvl="0" algn="l">
              <a:lnSpc>
                <a:spcPct val="120350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Highlight the instructor’s background, </a:t>
            </a:r>
          </a:p>
          <a:p>
            <a:pPr lvl="0" algn="l">
              <a:lnSpc>
                <a:spcPct val="120350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expertise, and relevant experience.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9700" y="10363200"/>
            <a:ext cx="8724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enter a brief description.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9700" y="11201400"/>
            <a:ext cx="5842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Focus Area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11836400"/>
            <a:ext cx="8724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enter a brief description.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53DEF-1854-F267-1CB6-C648980B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CF81732-7207-41E5-1337-BA0EEE0E1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121D1A1-0FD5-00CC-CEAD-E8DA68403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0" y="5461000"/>
            <a:ext cx="14058900" cy="25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961A5BD-4BE8-04FB-3B50-6960C46FA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7213600"/>
            <a:ext cx="14058900" cy="25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97E8443-0FFC-CE6E-BE42-1D2C592D4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8978900"/>
            <a:ext cx="14058900" cy="25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A16E645-1E9B-9FD4-BB99-491C7B6FF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10731500"/>
            <a:ext cx="14058900" cy="25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1BC6A97C-C16A-4757-E13E-E99A53D644FB}"/>
              </a:ext>
            </a:extLst>
          </p:cNvPr>
          <p:cNvSpPr txBox="1"/>
          <p:nvPr/>
        </p:nvSpPr>
        <p:spPr>
          <a:xfrm>
            <a:off x="6388100" y="4330700"/>
            <a:ext cx="11722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Understand how Generative AI can reduce work hours.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8576F5-80DA-CAA5-0599-0C5CB284145A}"/>
              </a:ext>
            </a:extLst>
          </p:cNvPr>
          <p:cNvSpPr txBox="1"/>
          <p:nvPr/>
        </p:nvSpPr>
        <p:spPr>
          <a:xfrm>
            <a:off x="5334000" y="43307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B39B7D1-EA5E-F815-BA01-0E4A118D490E}"/>
              </a:ext>
            </a:extLst>
          </p:cNvPr>
          <p:cNvSpPr txBox="1"/>
          <p:nvPr/>
        </p:nvSpPr>
        <p:spPr>
          <a:xfrm>
            <a:off x="6388100" y="6070600"/>
            <a:ext cx="11887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Identify practical ways to apply AI in your specific role.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2FD6526-10D3-F4A3-2691-8803C0498436}"/>
              </a:ext>
            </a:extLst>
          </p:cNvPr>
          <p:cNvSpPr txBox="1"/>
          <p:nvPr/>
        </p:nvSpPr>
        <p:spPr>
          <a:xfrm>
            <a:off x="5334000" y="60706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D367F68-10FA-0AC0-FD2E-81C3DE1B3EE4}"/>
              </a:ext>
            </a:extLst>
          </p:cNvPr>
          <p:cNvSpPr txBox="1"/>
          <p:nvPr/>
        </p:nvSpPr>
        <p:spPr>
          <a:xfrm>
            <a:off x="6388100" y="7797800"/>
            <a:ext cx="1139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Learn the core principles of writing effective prompts.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DCE8E01-C131-36C9-53BF-735CA3E13ED9}"/>
              </a:ext>
            </a:extLst>
          </p:cNvPr>
          <p:cNvSpPr txBox="1"/>
          <p:nvPr/>
        </p:nvSpPr>
        <p:spPr>
          <a:xfrm>
            <a:off x="5334000" y="77978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F29CF0-EEA1-8305-A573-4E1781A971D0}"/>
              </a:ext>
            </a:extLst>
          </p:cNvPr>
          <p:cNvSpPr txBox="1"/>
          <p:nvPr/>
        </p:nvSpPr>
        <p:spPr>
          <a:xfrm>
            <a:off x="6388100" y="9537700"/>
            <a:ext cx="1139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the course learning objectives here.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33F64B6-6C3D-20DA-E257-51B0130E2502}"/>
              </a:ext>
            </a:extLst>
          </p:cNvPr>
          <p:cNvSpPr txBox="1"/>
          <p:nvPr/>
        </p:nvSpPr>
        <p:spPr>
          <a:xfrm>
            <a:off x="5334000" y="95377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04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D31EF67-365A-00E5-1151-F44DB288B31D}"/>
              </a:ext>
            </a:extLst>
          </p:cNvPr>
          <p:cNvSpPr txBox="1"/>
          <p:nvPr/>
        </p:nvSpPr>
        <p:spPr>
          <a:xfrm>
            <a:off x="6388100" y="11264900"/>
            <a:ext cx="128016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a short sentence to spark curiosity and engage learners.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499B94-3E5D-4603-E5B7-2AC5608C80D0}"/>
              </a:ext>
            </a:extLst>
          </p:cNvPr>
          <p:cNvSpPr txBox="1"/>
          <p:nvPr/>
        </p:nvSpPr>
        <p:spPr>
          <a:xfrm>
            <a:off x="5334000" y="11264900"/>
            <a:ext cx="1181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AEEF901-DCF5-BD16-90A1-7C16DBB2B0DB}"/>
              </a:ext>
            </a:extLst>
          </p:cNvPr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Learning Objectives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4D4DAB9-A50D-1064-E048-82442A1F72A9}"/>
              </a:ext>
            </a:extLst>
          </p:cNvPr>
          <p:cNvSpPr txBox="1"/>
          <p:nvPr/>
        </p:nvSpPr>
        <p:spPr>
          <a:xfrm>
            <a:off x="1409700" y="1828800"/>
            <a:ext cx="129794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Expected Outcomes</a:t>
            </a:r>
          </a:p>
        </p:txBody>
      </p:sp>
    </p:spTree>
    <p:extLst>
      <p:ext uri="{BB962C8B-B14F-4D97-AF65-F5344CB8AC3E}">
        <p14:creationId xmlns:p14="http://schemas.microsoft.com/office/powerpoint/2010/main" val="1364305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600200" y="5994400"/>
            <a:ext cx="21196300" cy="3695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994400"/>
            <a:ext cx="21196300" cy="3695700"/>
          </a:xfrm>
          <a:prstGeom prst="rect">
            <a:avLst/>
          </a:prstGeom>
          <a:effectLst>
            <a:outerShdw blurRad="184527" dist="85166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200" y="5422900"/>
            <a:ext cx="1511300" cy="1511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968500" y="5613400"/>
            <a:ext cx="12700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400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Q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0300" y="10909300"/>
            <a:ext cx="94361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Encourage light participation through hand-raising, chat responses, or stickers.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Warm-up Questions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9700" y="1828800"/>
            <a:ext cx="148717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Opening thoughts based on participants’ prior experiences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8400" y="7086600"/>
            <a:ext cx="19494500" cy="151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85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"In what situations did you use AI?"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4724400"/>
            <a:ext cx="10744200" cy="6375400"/>
          </a:xfrm>
          <a:prstGeom prst="rect">
            <a:avLst/>
          </a:prstGeom>
          <a:effectLst>
            <a:outerShdw blurRad="127535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0" y="5041900"/>
            <a:ext cx="10109200" cy="5740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0" y="4724400"/>
            <a:ext cx="10744200" cy="6375400"/>
          </a:xfrm>
          <a:prstGeom prst="rect">
            <a:avLst/>
          </a:prstGeom>
          <a:effectLst>
            <a:outerShdw blurRad="127535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9200" y="5041900"/>
            <a:ext cx="10109200" cy="5740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What is Generative AI?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1828800"/>
            <a:ext cx="143383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The easiest way to understand the basics of generative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11700" y="11366500"/>
            <a:ext cx="70485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short sentence related to the keyword to introduce the main idea.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7200" y="11366500"/>
            <a:ext cx="3111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Efficiency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65500" y="11366500"/>
            <a:ext cx="65405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a short sentence to spark curiosity and engage the learner.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28600" y="11366500"/>
            <a:ext cx="3048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Productivity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102870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102743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3848100" y="10287000"/>
            <a:ext cx="4711700" cy="157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11049000"/>
            <a:ext cx="26797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45466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00" y="45466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3848100" y="4546600"/>
            <a:ext cx="4711700" cy="157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5245100"/>
            <a:ext cx="26797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8600" y="7416800"/>
            <a:ext cx="1574800" cy="1574800"/>
          </a:xfrm>
          <a:prstGeom prst="rect">
            <a:avLst/>
          </a:prstGeom>
          <a:effectLst>
            <a:outerShdw blurRad="78624" dist="36288" dir="2700000">
              <a:srgbClr val="00C6DB">
                <a:alpha val="10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8100" y="7416800"/>
            <a:ext cx="47117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>
            <a:off x="3848100" y="7416800"/>
            <a:ext cx="4711700" cy="157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8547100" y="8191500"/>
            <a:ext cx="26797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671300" y="10210800"/>
            <a:ext cx="112014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 Use a short sentence to engage the audience. Clearly present keywords and descriptions to sustain audience interest.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71300" y="4483100"/>
            <a:ext cx="112014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 Use a short sentence to engage the audience. Clearly present keywords and descriptions to sustain audience interest.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71300" y="7353300"/>
            <a:ext cx="112014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 Use a short sentence to engage the audience. Clearly present keywords and descriptions to sustain audience interest.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45000" y="107823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Output types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5000" y="5054600"/>
            <a:ext cx="3517900" cy="5715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Core definition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5000" y="7670800"/>
            <a:ext cx="3517900" cy="1054100"/>
          </a:xfrm>
          <a:prstGeom prst="rect">
            <a:avLst/>
          </a:prstGeom>
        </p:spPr>
        <p:txBody>
          <a:bodyPr lIns="0" tIns="4267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200" b="0" i="0" u="none" strike="noStrik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Difference from traditional AI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9900" y="107569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9900" y="50292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9900" y="78994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Key Output Types of Generative AI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700" y="1828800"/>
            <a:ext cx="160528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Key Output Types of Generative 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0" y="6464300"/>
            <a:ext cx="10744200" cy="6223000"/>
          </a:xfrm>
          <a:prstGeom prst="rect">
            <a:avLst/>
          </a:prstGeom>
          <a:effectLst>
            <a:outerShdw blurRad="124375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0" y="6756400"/>
            <a:ext cx="10109200" cy="567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6464300"/>
            <a:ext cx="10744200" cy="6223000"/>
          </a:xfrm>
          <a:prstGeom prst="rect">
            <a:avLst/>
          </a:prstGeom>
          <a:effectLst>
            <a:outerShdw blurRad="124375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6756400"/>
            <a:ext cx="10109200" cy="5676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98600" y="1028700"/>
            <a:ext cx="9893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Real examples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1828800"/>
            <a:ext cx="14871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Visual Use Cases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600" y="3708400"/>
            <a:ext cx="2578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Before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5600" y="4546600"/>
            <a:ext cx="100584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an image related to the topic in the image frame. Use a short sentence to engage the audience.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25400" y="3708400"/>
            <a:ext cx="25781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After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5400" y="4546600"/>
            <a:ext cx="100838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an image related to the topic in the image frame. Use a short sentence to engage the audience.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41529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300" y="10477500"/>
            <a:ext cx="2679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148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0439400"/>
            <a:ext cx="2679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15000"/>
          </a:blip>
          <a:stretch>
            <a:fillRect/>
          </a:stretch>
        </p:blipFill>
        <p:spPr>
          <a:xfrm>
            <a:off x="15938500" y="4114800"/>
            <a:ext cx="7010400" cy="808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8500" y="4114800"/>
            <a:ext cx="7010400" cy="8089900"/>
          </a:xfrm>
          <a:prstGeom prst="rect">
            <a:avLst/>
          </a:prstGeom>
          <a:effectLst>
            <a:outerShdw blurRad="350581" dist="161807" dir="2700000">
              <a:srgbClr val="00C6DB">
                <a:alpha val="10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89400" y="10439400"/>
            <a:ext cx="2679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2273300" y="58928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Drafting documents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3300" y="6832600"/>
            <a:ext cx="54483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Quickly generating structured first drafts.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3300" y="50927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41600" y="10642600"/>
            <a:ext cx="1930400" cy="4699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Go here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5000" y="5854700"/>
            <a:ext cx="48895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Summaries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5000" y="6794500"/>
            <a:ext cx="5448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Condensing long documents or meetings into clear summaries.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5000" y="5054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06000" y="10604500"/>
            <a:ext cx="1930400" cy="4699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Go here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89400" y="5854700"/>
            <a:ext cx="5461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Idea development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89400" y="6794500"/>
            <a:ext cx="5448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Expanding thinking during planning or strategy phases.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789400" y="5054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157700" y="10604500"/>
            <a:ext cx="1930400" cy="4699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Go here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8600" y="1028700"/>
            <a:ext cx="55753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Core application areas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700" y="1828800"/>
            <a:ext cx="14871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Text-based AI Applications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4914900"/>
            <a:ext cx="8699500" cy="7962900"/>
          </a:xfrm>
          <a:prstGeom prst="rect">
            <a:avLst/>
          </a:prstGeom>
          <a:effectLst>
            <a:outerShdw blurRad="159165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5207000"/>
            <a:ext cx="8102600" cy="7391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10655300" y="10807700"/>
            <a:ext cx="12598400" cy="2082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9600" y="10807700"/>
            <a:ext cx="12369800" cy="2082800"/>
          </a:xfrm>
          <a:prstGeom prst="rect">
            <a:avLst/>
          </a:prstGeom>
          <a:effectLst>
            <a:outerShdw blurRad="103839" dist="47926" dir="2700000">
              <a:srgbClr val="00C6DB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Visual work that even non-designers can easily utilize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1828800"/>
            <a:ext cx="148717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Image-based and Design-based AI Applications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17300" y="11226800"/>
            <a:ext cx="2095500" cy="11430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Example prompt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2100" y="11264900"/>
            <a:ext cx="88392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"Add [details] about your design project. [details] about your design project. --here"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0" y="5435600"/>
            <a:ext cx="885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Generating thumbnails or posters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0" y="6223000"/>
            <a:ext cx="102616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 Feel free to add a brief description of the keyword.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0" y="8064500"/>
            <a:ext cx="88519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Creating design drafts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0" y="8839200"/>
            <a:ext cx="102616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 Feel free to add a brief description of the keyword.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600" y="8801100"/>
            <a:ext cx="8128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0500" y="5448300"/>
            <a:ext cx="10121900" cy="6921500"/>
          </a:xfrm>
          <a:prstGeom prst="rect">
            <a:avLst/>
          </a:prstGeom>
          <a:effectLst>
            <a:outerShdw blurRad="345975" dist="159681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4100" y="5029200"/>
            <a:ext cx="58293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2890500" y="5448300"/>
            <a:ext cx="10121900" cy="690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4300" y="5448300"/>
            <a:ext cx="10121900" cy="6921500"/>
          </a:xfrm>
          <a:prstGeom prst="rect">
            <a:avLst/>
          </a:prstGeom>
          <a:effectLst>
            <a:outerShdw blurRad="345975" dist="159681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0600" y="5029200"/>
            <a:ext cx="58293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3898900" y="5118100"/>
            <a:ext cx="5080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Before using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4200" y="6718300"/>
            <a:ext cx="9182100" cy="444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this page to add befor/after comparisons.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Feel free to add a description of the keyword.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a short sentence to engage the audience.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Please add a description of the keyword here.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05100" y="5118100"/>
            <a:ext cx="50800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After using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47700" y="6718300"/>
            <a:ext cx="9182100" cy="444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Use this page to add befor/after comparisons.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Feel free to add a description of the keyword.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Please add a description of the keyword here.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Use a short sentence to engage the audience.</a:t>
            </a:r>
          </a:p>
          <a:p>
            <a:pPr lvl="0" algn="ctr">
              <a:lnSpc>
                <a:spcPct val="2074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Please add a description of the keyword here.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Comparing outcomes with and without 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9700" y="1828800"/>
            <a:ext cx="18465800" cy="246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Before &amp; After</a:t>
            </a:r>
          </a:p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: How Work Changes with 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4330700"/>
            <a:ext cx="30099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965200" y="4343400"/>
            <a:ext cx="3009900" cy="157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10185400"/>
            <a:ext cx="30099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965200" y="10198100"/>
            <a:ext cx="3009900" cy="157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7264400"/>
            <a:ext cx="3009900" cy="1574800"/>
          </a:xfrm>
          <a:prstGeom prst="rect">
            <a:avLst/>
          </a:prstGeom>
          <a:effectLst>
            <a:outerShdw blurRad="78826" dist="36381" dir="2700000">
              <a:srgbClr val="00C6DB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965200" y="7264400"/>
            <a:ext cx="3009900" cy="157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22400" y="4368800"/>
            <a:ext cx="9017000" cy="8178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Advantages experienced in the workplace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Major Benefits of Using Generative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4900" y="4483100"/>
            <a:ext cx="2717800" cy="1282700"/>
          </a:xfrm>
          <a:prstGeom prst="rect">
            <a:avLst/>
          </a:prstGeom>
        </p:spPr>
        <p:txBody>
          <a:bodyPr lIns="0" tIns="9601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7200" b="0" i="0" u="none" strike="noStrike">
                <a:solidFill>
                  <a:srgbClr val="CBFAFF"/>
                </a:solidFill>
                <a:latin typeface="Inter SemiBold"/>
                <a:ea typeface="Inter SemiBold"/>
                <a:cs typeface="Inter SemiBold"/>
              </a:rPr>
              <a:t>25%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89500" y="5143500"/>
            <a:ext cx="86233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this page to present numerical data through graphs.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89500" y="4330700"/>
            <a:ext cx="7137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CBFAFF"/>
                </a:solidFill>
                <a:latin typeface="Inter Bold"/>
                <a:ea typeface="Inter Bold"/>
                <a:cs typeface="Inter Bold"/>
              </a:rPr>
              <a:t>Automation of repetitive tasks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89500" y="8077200"/>
            <a:ext cx="85598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Edit the chart to highlight key metrics and provide clarity.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9500" y="7264400"/>
            <a:ext cx="7137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8EF3FF"/>
                </a:solidFill>
                <a:latin typeface="Inter Bold"/>
                <a:ea typeface="Inter Bold"/>
                <a:cs typeface="Inter Bold"/>
              </a:rPr>
              <a:t>Expanded ideation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4900" y="7404100"/>
            <a:ext cx="2717800" cy="1282700"/>
          </a:xfrm>
          <a:prstGeom prst="rect">
            <a:avLst/>
          </a:prstGeom>
        </p:spPr>
        <p:txBody>
          <a:bodyPr lIns="0" tIns="9601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7200" b="0" i="0" u="none" strike="noStrike">
                <a:solidFill>
                  <a:srgbClr val="8EF3FF"/>
                </a:solidFill>
                <a:latin typeface="Inter SemiBold"/>
                <a:ea typeface="Inter SemiBold"/>
                <a:cs typeface="Inter SemiBold"/>
              </a:rPr>
              <a:t>30%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9500" y="10998200"/>
            <a:ext cx="85598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Use this page to present numerical data through graphs.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89500" y="10185400"/>
            <a:ext cx="7137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Consistency in documents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4900" y="10337800"/>
            <a:ext cx="2717800" cy="1282700"/>
          </a:xfrm>
          <a:prstGeom prst="rect">
            <a:avLst/>
          </a:prstGeom>
        </p:spPr>
        <p:txBody>
          <a:bodyPr lIns="0" tIns="9601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7200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45%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5207000"/>
            <a:ext cx="33020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5207000"/>
            <a:ext cx="33020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200" y="5207000"/>
            <a:ext cx="33020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0" y="5207000"/>
            <a:ext cx="43561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400" y="5207000"/>
            <a:ext cx="3302000" cy="6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79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4699000"/>
            <a:ext cx="1054100" cy="1054100"/>
          </a:xfrm>
          <a:prstGeom prst="rect">
            <a:avLst/>
          </a:prstGeom>
          <a:effectLst>
            <a:outerShdw blurRad="157942" dist="97195" dir="2700000">
              <a:srgbClr val="000000">
                <a:alpha val="4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1473200" y="6642100"/>
            <a:ext cx="990600" cy="990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7277100" y="6642100"/>
            <a:ext cx="990600" cy="990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13030200" y="6642100"/>
            <a:ext cx="9906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18783300" y="6642100"/>
            <a:ext cx="990600" cy="990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Steps for integrating AI into real work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Role-based AI Workflow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91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Input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891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9100" y="8686800"/>
            <a:ext cx="42672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This page organizes topic-related items into a process or timeline.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549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Generate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549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4900" y="8686800"/>
            <a:ext cx="41910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Place each step in sequence to explain the process flow.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07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Edit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207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69900" y="8686800"/>
            <a:ext cx="4178300" cy="227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This page organizes topic-related items into a process or timeline.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973800" y="7772400"/>
            <a:ext cx="28194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Apply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973800" y="4927600"/>
            <a:ext cx="10922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961100" y="8686800"/>
            <a:ext cx="41148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Place each step in sequence to explain the process flow.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8470900"/>
            <a:ext cx="8890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4584700"/>
            <a:ext cx="6273800" cy="8229600"/>
          </a:xfrm>
          <a:prstGeom prst="rect">
            <a:avLst/>
          </a:prstGeom>
          <a:effectLst>
            <a:outerShdw blurRad="125511" dir="2700000">
              <a:srgbClr val="00C6DB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4787900"/>
            <a:ext cx="5829300" cy="781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700" y="4584700"/>
            <a:ext cx="6273800" cy="8229600"/>
          </a:xfrm>
          <a:prstGeom prst="rect">
            <a:avLst/>
          </a:prstGeom>
          <a:effectLst>
            <a:outerShdw blurRad="125511" dir="2700000">
              <a:srgbClr val="00C6DB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4300" y="4787900"/>
            <a:ext cx="5829300" cy="781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4800" y="4584700"/>
            <a:ext cx="6273800" cy="8229600"/>
          </a:xfrm>
          <a:prstGeom prst="rect">
            <a:avLst/>
          </a:prstGeom>
          <a:effectLst>
            <a:outerShdw blurRad="125511" dir="2700000">
              <a:srgbClr val="00C6DB">
                <a:alpha val="10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3400" y="4787900"/>
            <a:ext cx="5829300" cy="7810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298700" y="3683000"/>
            <a:ext cx="42418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Style 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6500" y="3683000"/>
            <a:ext cx="36576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Style A'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35600" y="3683000"/>
            <a:ext cx="3657600" cy="622300"/>
          </a:xfrm>
          <a:prstGeom prst="rect">
            <a:avLst/>
          </a:prstGeom>
        </p:spPr>
        <p:txBody>
          <a:bodyPr lIns="0" tIns="46228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3466" b="0" i="0" u="none" strike="noStrike">
                <a:solidFill>
                  <a:srgbClr val="00C6DB"/>
                </a:solidFill>
                <a:latin typeface="Inter Bold"/>
                <a:ea typeface="Inter Bold"/>
                <a:cs typeface="Inter Bold"/>
              </a:rPr>
              <a:t>Style 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Viewing visual outputs generated by 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9700" y="1828800"/>
            <a:ext cx="166116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Image Examples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4876800"/>
            <a:ext cx="2171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7061200"/>
            <a:ext cx="21717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9334500"/>
            <a:ext cx="6540500" cy="812800"/>
          </a:xfrm>
          <a:prstGeom prst="rect">
            <a:avLst/>
          </a:prstGeom>
          <a:effectLst>
            <a:outerShdw blurRad="121270" dist="74628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0500" y="1422400"/>
            <a:ext cx="11417300" cy="11087100"/>
          </a:xfrm>
          <a:prstGeom prst="rect">
            <a:avLst/>
          </a:prstGeom>
          <a:effectLst>
            <a:outerShdw blurRad="221623" dir="2700000">
              <a:srgbClr val="00C6DB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0700" y="1701800"/>
            <a:ext cx="10744200" cy="10528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09700" y="1828800"/>
            <a:ext cx="9410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Contact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8600" y="1028700"/>
            <a:ext cx="92202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00C6DB"/>
                </a:solidFill>
                <a:latin typeface="Inter SemiBold"/>
                <a:ea typeface="Inter SemiBold"/>
                <a:cs typeface="Inter SemiBold"/>
              </a:rPr>
              <a:t>How to ask questions or reach 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1300" y="4978400"/>
            <a:ext cx="19812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Phone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54200" y="5867400"/>
            <a:ext cx="4432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611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(123) 456-7890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0" y="7150100"/>
            <a:ext cx="1574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E-mail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4200" y="8039100"/>
            <a:ext cx="4127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611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visit@here.com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8300" y="9436100"/>
            <a:ext cx="6096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Notices/Additional updates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4600" y="10477500"/>
            <a:ext cx="9080500" cy="205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learning announcements here.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a description of the keyword here.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Inter Regular"/>
                <a:ea typeface="Inter Regular"/>
                <a:cs typeface="Inter Regular"/>
              </a:rPr>
              <a:t>Add learning announcements here.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55800" y="10477500"/>
            <a:ext cx="723900" cy="205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00C6DB"/>
                </a:solidFill>
                <a:latin typeface="Inter Regular"/>
                <a:ea typeface="Inter Regular"/>
                <a:cs typeface="Inter Regular"/>
              </a:rPr>
              <a:t>-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00C6DB"/>
                </a:solidFill>
                <a:latin typeface="Inter Regular"/>
                <a:ea typeface="Inter Regular"/>
                <a:cs typeface="Inter Regular"/>
              </a:rPr>
              <a:t>-</a:t>
            </a:r>
          </a:p>
          <a:p>
            <a:pPr lvl="0" algn="l">
              <a:lnSpc>
                <a:spcPct val="151890"/>
              </a:lnSpc>
            </a:pPr>
            <a:r>
              <a:rPr lang="en-US" sz="3200" b="0" i="0" u="none" strike="noStrike">
                <a:solidFill>
                  <a:srgbClr val="00C6DB"/>
                </a:solidFill>
                <a:latin typeface="Inter Regular"/>
                <a:ea typeface="Inter Regular"/>
                <a:cs typeface="Inter Regular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1711</Words>
  <Application>Microsoft Office PowerPoint</Application>
  <PresentationFormat>사용자 지정</PresentationFormat>
  <Paragraphs>338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Pretendard</vt:lpstr>
      <vt:lpstr>Inter Regular</vt:lpstr>
      <vt:lpstr>Inter Bold</vt:lpstr>
      <vt:lpstr>Inter Medium</vt:lpstr>
      <vt:lpstr>Inter SemiBold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김민영</cp:lastModifiedBy>
  <cp:revision>8</cp:revision>
  <dcterms:created xsi:type="dcterms:W3CDTF">2006-08-16T00:00:00Z</dcterms:created>
  <dcterms:modified xsi:type="dcterms:W3CDTF">2026-03-26T06:56:26Z</dcterms:modified>
</cp:coreProperties>
</file>